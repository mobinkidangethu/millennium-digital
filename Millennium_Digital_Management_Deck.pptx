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A15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463040"/>
            <a:ext cx="4754880" cy="4754880"/>
          </a:xfrm>
          <a:prstGeom prst="ellipse">
            <a:avLst/>
          </a:prstGeom>
          <a:solidFill>
            <a:srgbClr val="602347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645920" y="4754880"/>
            <a:ext cx="4023360" cy="4023360"/>
          </a:xfrm>
          <a:prstGeom prst="ellipse">
            <a:avLst/>
          </a:prstGeom>
          <a:solidFill>
            <a:srgbClr val="93386C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0080" y="685800"/>
            <a:ext cx="457200" cy="457200"/>
          </a:xfrm>
          <a:prstGeom prst="ellipse">
            <a:avLst/>
          </a:prstGeom>
          <a:solidFill>
            <a:srgbClr val="93386C"/>
          </a:solidFill>
          <a:ln w="15875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234440" y="6858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MILLENNIUM DIGITAL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2331720"/>
            <a:ext cx="10515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Digital Commerce Platform for</a:t>
            </a:r>
            <a:endParaRPr lang="en-US" sz="40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Electronics &amp; Semiconductor Procurement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640080" y="4160520"/>
            <a:ext cx="8686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D296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 review — platform walkthrough, engineering workflows, and delivery status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5989320"/>
            <a:ext cx="2743200" cy="0"/>
          </a:xfrm>
          <a:prstGeom prst="line">
            <a:avLst/>
          </a:prstGeom>
          <a:noFill/>
          <a:ln w="9525">
            <a:solidFill>
              <a:srgbClr val="D296B9">
                <a:alpha val="6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610819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A9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Partner Evaluation — August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338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MILLENNIUM DIGITAL 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241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730"/>
              </a:lnSpc>
              <a:buNone/>
            </a:pPr>
            <a:r>
              <a:rPr lang="en-US" sz="2600" b="1" dirty="0">
                <a:solidFill>
                  <a:srgbClr val="2322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B2B Engineering Procurement Platform —</a:t>
            </a:r>
            <a:endParaRPr lang="en-US" sz="2600" dirty="0"/>
          </a:p>
          <a:p>
            <a:pPr indent="0" marL="0">
              <a:lnSpc>
                <a:spcPts val="2730"/>
              </a:lnSpc>
              <a:buNone/>
            </a:pPr>
            <a:r>
              <a:rPr lang="en-US" sz="2600" b="1" dirty="0">
                <a:solidFill>
                  <a:srgbClr val="2322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 a Consumer Storefront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965960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66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decision — information architecture, workflows, visual language — is built around how engineers and procurement teams actually source components, not how consumers browse for a jacket.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40080" y="2788920"/>
            <a:ext cx="2542032" cy="3063240"/>
          </a:xfrm>
          <a:prstGeom prst="roundRect">
            <a:avLst>
              <a:gd name="adj" fmla="val 2158"/>
            </a:avLst>
          </a:prstGeom>
          <a:solidFill>
            <a:srgbClr val="FAFAFA"/>
          </a:solidFill>
          <a:ln w="12700">
            <a:solidFill>
              <a:srgbClr val="E4E3E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96112" y="3063240"/>
            <a:ext cx="548640" cy="548640"/>
          </a:xfrm>
          <a:prstGeom prst="ellipse">
            <a:avLst/>
          </a:prstGeom>
          <a:solidFill>
            <a:srgbClr val="F3E1EC"/>
          </a:solidFill>
          <a:ln/>
        </p:spPr>
      </p:sp>
      <p:sp>
        <p:nvSpPr>
          <p:cNvPr id="7" name="Text 5"/>
          <p:cNvSpPr/>
          <p:nvPr/>
        </p:nvSpPr>
        <p:spPr>
          <a:xfrm>
            <a:off x="896112" y="3063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338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96112" y="3794760"/>
            <a:ext cx="20299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322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Trust &amp; Authenticity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896112" y="4480560"/>
            <a:ext cx="202996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66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manufacturer data, verified part numbers, transparent stock status.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401568" y="2788920"/>
            <a:ext cx="2542032" cy="3063240"/>
          </a:xfrm>
          <a:prstGeom prst="roundRect">
            <a:avLst>
              <a:gd name="adj" fmla="val 2158"/>
            </a:avLst>
          </a:prstGeom>
          <a:solidFill>
            <a:srgbClr val="FAFAFA"/>
          </a:solidFill>
          <a:ln w="12700">
            <a:solidFill>
              <a:srgbClr val="E4E3E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0" y="3063240"/>
            <a:ext cx="548640" cy="548640"/>
          </a:xfrm>
          <a:prstGeom prst="ellipse">
            <a:avLst/>
          </a:prstGeom>
          <a:solidFill>
            <a:srgbClr val="F3E1EC"/>
          </a:solidFill>
          <a:ln/>
        </p:spPr>
      </p:sp>
      <p:sp>
        <p:nvSpPr>
          <p:cNvPr id="12" name="Text 10"/>
          <p:cNvSpPr/>
          <p:nvPr/>
        </p:nvSpPr>
        <p:spPr>
          <a:xfrm>
            <a:off x="3657600" y="3063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338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3657600" y="3794760"/>
            <a:ext cx="20299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322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Engineering Depth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3657600" y="4480560"/>
            <a:ext cx="202996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66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Parametric search, BOM matching, technical spec tables — not generic filters.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163056" y="2788920"/>
            <a:ext cx="2542032" cy="3063240"/>
          </a:xfrm>
          <a:prstGeom prst="roundRect">
            <a:avLst>
              <a:gd name="adj" fmla="val 2158"/>
            </a:avLst>
          </a:prstGeom>
          <a:solidFill>
            <a:srgbClr val="FAFAFA"/>
          </a:solidFill>
          <a:ln w="12700">
            <a:solidFill>
              <a:srgbClr val="E4E3E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419088" y="3063240"/>
            <a:ext cx="548640" cy="548640"/>
          </a:xfrm>
          <a:prstGeom prst="ellipse">
            <a:avLst/>
          </a:prstGeom>
          <a:solidFill>
            <a:srgbClr val="F3E1EC"/>
          </a:solidFill>
          <a:ln/>
        </p:spPr>
      </p:sp>
      <p:sp>
        <p:nvSpPr>
          <p:cNvPr id="17" name="Text 15"/>
          <p:cNvSpPr/>
          <p:nvPr/>
        </p:nvSpPr>
        <p:spPr>
          <a:xfrm>
            <a:off x="6419088" y="3063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338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419088" y="3794760"/>
            <a:ext cx="20299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322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Procurement Efficiency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6419088" y="4480560"/>
            <a:ext cx="202996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66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RFQ, governed pricing, and volume workflows built for buying teams.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924544" y="2788920"/>
            <a:ext cx="2542032" cy="3063240"/>
          </a:xfrm>
          <a:prstGeom prst="roundRect">
            <a:avLst>
              <a:gd name="adj" fmla="val 2158"/>
            </a:avLst>
          </a:prstGeom>
          <a:solidFill>
            <a:srgbClr val="FAFAFA"/>
          </a:solidFill>
          <a:ln w="12700">
            <a:solidFill>
              <a:srgbClr val="E4E3E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180576" y="3063240"/>
            <a:ext cx="548640" cy="548640"/>
          </a:xfrm>
          <a:prstGeom prst="ellipse">
            <a:avLst/>
          </a:prstGeom>
          <a:solidFill>
            <a:srgbClr val="F3E1EC"/>
          </a:solidFill>
          <a:ln/>
        </p:spPr>
      </p:sp>
      <p:sp>
        <p:nvSpPr>
          <p:cNvPr id="22" name="Text 20"/>
          <p:cNvSpPr/>
          <p:nvPr/>
        </p:nvSpPr>
        <p:spPr>
          <a:xfrm>
            <a:off x="9180576" y="3063240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9338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180576" y="3794760"/>
            <a:ext cx="202996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322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Enterprise Governance</a:t>
            </a:r>
            <a:endParaRPr lang="en-US" sz="1450" dirty="0"/>
          </a:p>
        </p:txBody>
      </p:sp>
      <p:sp>
        <p:nvSpPr>
          <p:cNvPr id="24" name="Text 22"/>
          <p:cNvSpPr/>
          <p:nvPr/>
        </p:nvSpPr>
        <p:spPr>
          <a:xfrm>
            <a:off x="9180576" y="4480560"/>
            <a:ext cx="2029968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666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Maker-Checker publishing model, not an unchecked admin CRUD screen.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A6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2322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296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 AT A GLANCE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730"/>
              </a:lnSpc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on a Real Catalog, Not Placeholder Data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337560" cy="1554480"/>
          </a:xfrm>
          <a:prstGeom prst="roundRect">
            <a:avLst>
              <a:gd name="adj" fmla="val 3529"/>
            </a:avLst>
          </a:prstGeom>
          <a:solidFill>
            <a:srgbClr val="38373A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947672"/>
            <a:ext cx="2788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138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914400" y="288036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C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catalog parts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233672" y="1783080"/>
            <a:ext cx="3337560" cy="1554480"/>
          </a:xfrm>
          <a:prstGeom prst="roundRect">
            <a:avLst>
              <a:gd name="adj" fmla="val 3529"/>
            </a:avLst>
          </a:prstGeom>
          <a:solidFill>
            <a:srgbClr val="38373A"/>
          </a:solidFill>
          <a:ln/>
        </p:spPr>
      </p:sp>
      <p:sp>
        <p:nvSpPr>
          <p:cNvPr id="8" name="Text 6"/>
          <p:cNvSpPr/>
          <p:nvPr/>
        </p:nvSpPr>
        <p:spPr>
          <a:xfrm>
            <a:off x="4507992" y="1947672"/>
            <a:ext cx="2788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4400" dirty="0"/>
          </a:p>
        </p:txBody>
      </p:sp>
      <p:sp>
        <p:nvSpPr>
          <p:cNvPr id="9" name="Text 7"/>
          <p:cNvSpPr/>
          <p:nvPr/>
        </p:nvSpPr>
        <p:spPr>
          <a:xfrm>
            <a:off x="4507992" y="288036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C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manufacturers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827264" y="1783080"/>
            <a:ext cx="3337560" cy="1554480"/>
          </a:xfrm>
          <a:prstGeom prst="roundRect">
            <a:avLst>
              <a:gd name="adj" fmla="val 3529"/>
            </a:avLst>
          </a:prstGeom>
          <a:solidFill>
            <a:srgbClr val="38373A"/>
          </a:solidFill>
          <a:ln/>
        </p:spPr>
      </p:sp>
      <p:sp>
        <p:nvSpPr>
          <p:cNvPr id="11" name="Text 9"/>
          <p:cNvSpPr/>
          <p:nvPr/>
        </p:nvSpPr>
        <p:spPr>
          <a:xfrm>
            <a:off x="8101584" y="1947672"/>
            <a:ext cx="2788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4400" dirty="0"/>
          </a:p>
        </p:txBody>
      </p:sp>
      <p:sp>
        <p:nvSpPr>
          <p:cNvPr id="12" name="Text 10"/>
          <p:cNvSpPr/>
          <p:nvPr/>
        </p:nvSpPr>
        <p:spPr>
          <a:xfrm>
            <a:off x="8101584" y="2880360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C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categories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3593592"/>
            <a:ext cx="3337560" cy="1554480"/>
          </a:xfrm>
          <a:prstGeom prst="roundRect">
            <a:avLst>
              <a:gd name="adj" fmla="val 3529"/>
            </a:avLst>
          </a:prstGeom>
          <a:solidFill>
            <a:srgbClr val="38373A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3758184"/>
            <a:ext cx="2788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62</a:t>
            </a:r>
            <a:endParaRPr lang="en-US" sz="4400" dirty="0"/>
          </a:p>
        </p:txBody>
      </p:sp>
      <p:sp>
        <p:nvSpPr>
          <p:cNvPr id="15" name="Text 13"/>
          <p:cNvSpPr/>
          <p:nvPr/>
        </p:nvSpPr>
        <p:spPr>
          <a:xfrm>
            <a:off x="914400" y="4690872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C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 across buyer / admin / auth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233672" y="3593592"/>
            <a:ext cx="3337560" cy="1554480"/>
          </a:xfrm>
          <a:prstGeom prst="roundRect">
            <a:avLst>
              <a:gd name="adj" fmla="val 3529"/>
            </a:avLst>
          </a:prstGeom>
          <a:solidFill>
            <a:srgbClr val="38373A"/>
          </a:solidFill>
          <a:ln/>
        </p:spPr>
      </p:sp>
      <p:sp>
        <p:nvSpPr>
          <p:cNvPr id="17" name="Text 15"/>
          <p:cNvSpPr/>
          <p:nvPr/>
        </p:nvSpPr>
        <p:spPr>
          <a:xfrm>
            <a:off x="4507992" y="3758184"/>
            <a:ext cx="2788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39</a:t>
            </a:r>
            <a:endParaRPr lang="en-US" sz="4400" dirty="0"/>
          </a:p>
        </p:txBody>
      </p:sp>
      <p:sp>
        <p:nvSpPr>
          <p:cNvPr id="18" name="Text 16"/>
          <p:cNvSpPr/>
          <p:nvPr/>
        </p:nvSpPr>
        <p:spPr>
          <a:xfrm>
            <a:off x="4507992" y="4690872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C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Reusable UI components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827264" y="3593592"/>
            <a:ext cx="3337560" cy="1554480"/>
          </a:xfrm>
          <a:prstGeom prst="roundRect">
            <a:avLst>
              <a:gd name="adj" fmla="val 3529"/>
            </a:avLst>
          </a:prstGeom>
          <a:solidFill>
            <a:srgbClr val="38373A"/>
          </a:solidFill>
          <a:ln/>
        </p:spPr>
      </p:sp>
      <p:sp>
        <p:nvSpPr>
          <p:cNvPr id="20" name="Text 18"/>
          <p:cNvSpPr/>
          <p:nvPr/>
        </p:nvSpPr>
        <p:spPr>
          <a:xfrm>
            <a:off x="8101584" y="3758184"/>
            <a:ext cx="2788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4400" dirty="0"/>
          </a:p>
        </p:txBody>
      </p:sp>
      <p:sp>
        <p:nvSpPr>
          <p:cNvPr id="21" name="Text 19"/>
          <p:cNvSpPr/>
          <p:nvPr/>
        </p:nvSpPr>
        <p:spPr>
          <a:xfrm>
            <a:off x="8101584" y="4690872"/>
            <a:ext cx="2788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C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&amp; B2B workflows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640080" y="63550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A7A6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figures pulled directly from assets/data/products.json — nothing on this slide is illustrative.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338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730"/>
              </a:lnSpc>
              <a:buNone/>
            </a:pPr>
            <a:r>
              <a:rPr lang="en-US" sz="2600" b="1" dirty="0">
                <a:solidFill>
                  <a:srgbClr val="2322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Codebase, Five Platforms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6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+ TypeScript + Expo Router, rendered natively and to the web from the same component tree — Desktop, Tablet, Mobile Web, Android, and iOS are adaptive layouts of one app, not five separate builds.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10881360" cy="896112"/>
          </a:xfrm>
          <a:prstGeom prst="roundRect">
            <a:avLst>
              <a:gd name="adj" fmla="val 5102"/>
            </a:avLst>
          </a:prstGeom>
          <a:solidFill>
            <a:srgbClr val="FAFAFA"/>
          </a:solidFill>
          <a:ln w="12700">
            <a:solidFill>
              <a:srgbClr val="E4E3E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68680" y="2505456"/>
            <a:ext cx="2331720" cy="457200"/>
          </a:xfrm>
          <a:prstGeom prst="roundRect">
            <a:avLst>
              <a:gd name="adj" fmla="val 10000"/>
            </a:avLst>
          </a:prstGeom>
          <a:solidFill>
            <a:srgbClr val="F3E1EC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505456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602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Layer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3429000" y="2377440"/>
            <a:ext cx="7863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3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 compose from a shared design-system — tokens, 20+ primitives, 39 reusable components. No page reinvents its own buttons or spacing.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3310128"/>
            <a:ext cx="10881360" cy="896112"/>
          </a:xfrm>
          <a:prstGeom prst="roundRect">
            <a:avLst>
              <a:gd name="adj" fmla="val 5102"/>
            </a:avLst>
          </a:prstGeom>
          <a:solidFill>
            <a:srgbClr val="FAFAFA"/>
          </a:solidFill>
          <a:ln w="12700">
            <a:solidFill>
              <a:srgbClr val="E4E3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8680" y="3529584"/>
            <a:ext cx="2331720" cy="457200"/>
          </a:xfrm>
          <a:prstGeom prst="roundRect">
            <a:avLst>
              <a:gd name="adj" fmla="val 10000"/>
            </a:avLst>
          </a:prstGeom>
          <a:solidFill>
            <a:srgbClr val="F3E1EC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529584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602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/ Repository Layer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429000" y="3401568"/>
            <a:ext cx="7863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3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feature (products, cart, RFQ, pricing, governance…) exposes typed service functions behind a hooks layer — UI never touches raw data or business logic directly.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4334256"/>
            <a:ext cx="10881360" cy="896112"/>
          </a:xfrm>
          <a:prstGeom prst="roundRect">
            <a:avLst>
              <a:gd name="adj" fmla="val 5102"/>
            </a:avLst>
          </a:prstGeom>
          <a:solidFill>
            <a:srgbClr val="FAFAFA"/>
          </a:solidFill>
          <a:ln w="12700">
            <a:solidFill>
              <a:srgbClr val="E4E3E5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868680" y="4553712"/>
            <a:ext cx="2331720" cy="457200"/>
          </a:xfrm>
          <a:prstGeom prst="roundRect">
            <a:avLst>
              <a:gd name="adj" fmla="val 10000"/>
            </a:avLst>
          </a:prstGeom>
          <a:solidFill>
            <a:srgbClr val="F3E1EC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4553712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602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Server-state &amp; Client-state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3429000" y="4425696"/>
            <a:ext cx="7863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3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@tanstack/react-query for anything resembling a network call; 14 focused zustand stores for session/UI state — no tangled global state.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" y="5358384"/>
            <a:ext cx="10881360" cy="896112"/>
          </a:xfrm>
          <a:prstGeom prst="roundRect">
            <a:avLst>
              <a:gd name="adj" fmla="val 5102"/>
            </a:avLst>
          </a:prstGeom>
          <a:solidFill>
            <a:srgbClr val="FAFAFA"/>
          </a:solidFill>
          <a:ln w="12700">
            <a:solidFill>
              <a:srgbClr val="E4E3E5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68680" y="5577840"/>
            <a:ext cx="2331720" cy="457200"/>
          </a:xfrm>
          <a:prstGeom prst="roundRect">
            <a:avLst>
              <a:gd name="adj" fmla="val 10000"/>
            </a:avLst>
          </a:prstGeom>
          <a:solidFill>
            <a:srgbClr val="F3E1EC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5577840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602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 → Production seam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3429000" y="5449824"/>
            <a:ext cx="78638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3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AI, BOM matching, pricing rules, and governance are documented, swappable mock services — a real backend replaces each one without touching the UI.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A6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338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 EXPERIENCE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730"/>
              </a:lnSpc>
              <a:buNone/>
            </a:pPr>
            <a:r>
              <a:rPr lang="en-US" sz="2600" b="1" dirty="0">
                <a:solidFill>
                  <a:srgbClr val="2322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Discovery to Delivery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66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step below is a real, working screen today — not a wireframe of a future release.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1993392" cy="3108960"/>
          </a:xfrm>
          <a:prstGeom prst="roundRect">
            <a:avLst>
              <a:gd name="adj" fmla="val 2752"/>
            </a:avLst>
          </a:prstGeom>
          <a:solidFill>
            <a:srgbClr val="93386C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46888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>
                    <a:alpha val="85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822960" y="3200400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Discover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3703320"/>
            <a:ext cx="162763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FE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Parametric search, categories, AI-assisted natural-language query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775204" y="2286000"/>
            <a:ext cx="1993392" cy="3108960"/>
          </a:xfrm>
          <a:prstGeom prst="roundRect">
            <a:avLst>
              <a:gd name="adj" fmla="val 2752"/>
            </a:avLst>
          </a:prstGeom>
          <a:solidFill>
            <a:srgbClr val="232226"/>
          </a:solidFill>
          <a:ln/>
        </p:spPr>
      </p:sp>
      <p:sp>
        <p:nvSpPr>
          <p:cNvPr id="10" name="Text 8"/>
          <p:cNvSpPr/>
          <p:nvPr/>
        </p:nvSpPr>
        <p:spPr>
          <a:xfrm>
            <a:off x="2958084" y="246888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>
                    <a:alpha val="85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2958084" y="3200400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Evaluate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2958084" y="3703320"/>
            <a:ext cx="162763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FE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 tables, datasheets, RoHS/lifecycle, manufacturer trust signals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910328" y="2286000"/>
            <a:ext cx="1993392" cy="3108960"/>
          </a:xfrm>
          <a:prstGeom prst="roundRect">
            <a:avLst>
              <a:gd name="adj" fmla="val 2752"/>
            </a:avLst>
          </a:prstGeom>
          <a:solidFill>
            <a:srgbClr val="93386C"/>
          </a:solidFill>
          <a:ln/>
        </p:spPr>
      </p:sp>
      <p:sp>
        <p:nvSpPr>
          <p:cNvPr id="14" name="Text 12"/>
          <p:cNvSpPr/>
          <p:nvPr/>
        </p:nvSpPr>
        <p:spPr>
          <a:xfrm>
            <a:off x="5093208" y="246888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>
                    <a:alpha val="85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5093208" y="3200400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Quote or Cart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5093208" y="3703320"/>
            <a:ext cx="162763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FE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RFQ (manual / BOM / AI / cart) with governed pricing, or direct add-to-cart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7045452" y="2286000"/>
            <a:ext cx="1993392" cy="3108960"/>
          </a:xfrm>
          <a:prstGeom prst="roundRect">
            <a:avLst>
              <a:gd name="adj" fmla="val 2752"/>
            </a:avLst>
          </a:prstGeom>
          <a:solidFill>
            <a:srgbClr val="232226"/>
          </a:solidFill>
          <a:ln/>
        </p:spPr>
      </p:sp>
      <p:sp>
        <p:nvSpPr>
          <p:cNvPr id="18" name="Text 16"/>
          <p:cNvSpPr/>
          <p:nvPr/>
        </p:nvSpPr>
        <p:spPr>
          <a:xfrm>
            <a:off x="7228332" y="246888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>
                    <a:alpha val="85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7228332" y="3200400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Checkout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228332" y="3703320"/>
            <a:ext cx="162763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FE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 → Shipping → Payment → Review, with a persistent order summary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9180576" y="2286000"/>
            <a:ext cx="1993392" cy="3108960"/>
          </a:xfrm>
          <a:prstGeom prst="roundRect">
            <a:avLst>
              <a:gd name="adj" fmla="val 2752"/>
            </a:avLst>
          </a:prstGeom>
          <a:solidFill>
            <a:srgbClr val="93386C"/>
          </a:solidFill>
          <a:ln/>
        </p:spPr>
      </p:sp>
      <p:sp>
        <p:nvSpPr>
          <p:cNvPr id="22" name="Text 20"/>
          <p:cNvSpPr/>
          <p:nvPr/>
        </p:nvSpPr>
        <p:spPr>
          <a:xfrm>
            <a:off x="9363456" y="246888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>
                    <a:alpha val="85000"/>
                  </a:srgbClr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9363456" y="3200400"/>
            <a:ext cx="16276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Track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9363456" y="3703320"/>
            <a:ext cx="1627632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50" dirty="0">
                <a:solidFill>
                  <a:srgbClr val="EFE6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history + shipment timeline from placed through delivered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A6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338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— DISCOVERY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520"/>
              </a:lnSpc>
              <a:buNone/>
            </a:pPr>
            <a:r>
              <a:rPr lang="en-US" sz="2400" b="1" dirty="0">
                <a:solidFill>
                  <a:srgbClr val="2322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Homepage &amp; Parametric Product Discovery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6949440" cy="5029200"/>
          </a:xfrm>
          <a:prstGeom prst="roundRect">
            <a:avLst>
              <a:gd name="adj" fmla="val 1455"/>
            </a:avLst>
          </a:prstGeom>
          <a:solidFill>
            <a:srgbClr val="FFFFFF"/>
          </a:solidFill>
          <a:ln w="12700">
            <a:solidFill>
              <a:srgbClr val="E4E3E5"/>
            </a:solidFill>
            <a:prstDash val="solid"/>
          </a:ln>
          <a:effectLst>
            <a:outerShdw sx="100000" sy="100000" kx="0" ky="0" algn="bl" rotWithShape="0" blurRad="177800" dist="76200" dir="54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463040"/>
            <a:ext cx="6949440" cy="256032"/>
          </a:xfrm>
          <a:prstGeom prst="roundRect">
            <a:avLst>
              <a:gd name="adj" fmla="val 28571"/>
            </a:avLst>
          </a:prstGeom>
          <a:solidFill>
            <a:srgbClr val="F0EFF0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591056"/>
            <a:ext cx="6949440" cy="128016"/>
          </a:xfrm>
          <a:prstGeom prst="rect">
            <a:avLst/>
          </a:prstGeom>
          <a:solidFill>
            <a:srgbClr val="F0EFF0"/>
          </a:solidFill>
          <a:ln/>
        </p:spPr>
      </p:sp>
      <p:sp>
        <p:nvSpPr>
          <p:cNvPr id="7" name="Shape 5"/>
          <p:cNvSpPr/>
          <p:nvPr/>
        </p:nvSpPr>
        <p:spPr>
          <a:xfrm>
            <a:off x="749808" y="1554480"/>
            <a:ext cx="73152" cy="73152"/>
          </a:xfrm>
          <a:prstGeom prst="ellipse">
            <a:avLst/>
          </a:prstGeom>
          <a:solidFill>
            <a:srgbClr val="E4E3E5"/>
          </a:solidFill>
          <a:ln/>
        </p:spPr>
      </p:sp>
      <p:sp>
        <p:nvSpPr>
          <p:cNvPr id="8" name="Shape 6"/>
          <p:cNvSpPr/>
          <p:nvPr/>
        </p:nvSpPr>
        <p:spPr>
          <a:xfrm>
            <a:off x="896112" y="1554480"/>
            <a:ext cx="73152" cy="73152"/>
          </a:xfrm>
          <a:prstGeom prst="ellipse">
            <a:avLst/>
          </a:prstGeom>
          <a:solidFill>
            <a:srgbClr val="E4E3E5"/>
          </a:solidFill>
          <a:ln/>
        </p:spPr>
      </p:sp>
      <p:sp>
        <p:nvSpPr>
          <p:cNvPr id="9" name="Shape 7"/>
          <p:cNvSpPr/>
          <p:nvPr/>
        </p:nvSpPr>
        <p:spPr>
          <a:xfrm>
            <a:off x="1042416" y="1554480"/>
            <a:ext cx="73152" cy="73152"/>
          </a:xfrm>
          <a:prstGeom prst="ellipse">
            <a:avLst/>
          </a:prstGeom>
          <a:solidFill>
            <a:srgbClr val="E4E3E5"/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" y="1719072"/>
            <a:ext cx="69494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4E3E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68096" y="1810512"/>
            <a:ext cx="201168" cy="201168"/>
          </a:xfrm>
          <a:prstGeom prst="ellipse">
            <a:avLst/>
          </a:prstGeom>
          <a:solidFill>
            <a:srgbClr val="93386C"/>
          </a:solidFill>
          <a:ln/>
        </p:spPr>
      </p:sp>
      <p:sp>
        <p:nvSpPr>
          <p:cNvPr id="12" name="Text 10"/>
          <p:cNvSpPr/>
          <p:nvPr/>
        </p:nvSpPr>
        <p:spPr>
          <a:xfrm>
            <a:off x="1024128" y="171907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3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MILLENNIUM DIGITAL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200400" y="1792224"/>
            <a:ext cx="2194560" cy="237744"/>
          </a:xfrm>
          <a:prstGeom prst="roundRect">
            <a:avLst>
              <a:gd name="adj" fmla="val 19231"/>
            </a:avLst>
          </a:prstGeom>
          <a:solidFill>
            <a:srgbClr val="FAFAFA"/>
          </a:solidFill>
          <a:ln w="6350">
            <a:solidFill>
              <a:srgbClr val="E4E3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10128" y="179222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7A6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products, categories, manufacturers…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6675120" y="1819656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A7A6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600" dirty="0"/>
          </a:p>
        </p:txBody>
      </p:sp>
      <p:sp>
        <p:nvSpPr>
          <p:cNvPr id="16" name="Text 14"/>
          <p:cNvSpPr/>
          <p:nvPr/>
        </p:nvSpPr>
        <p:spPr>
          <a:xfrm>
            <a:off x="6967728" y="1819656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A7A6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600" dirty="0"/>
          </a:p>
        </p:txBody>
      </p:sp>
      <p:sp>
        <p:nvSpPr>
          <p:cNvPr id="17" name="Text 15"/>
          <p:cNvSpPr/>
          <p:nvPr/>
        </p:nvSpPr>
        <p:spPr>
          <a:xfrm>
            <a:off x="7260336" y="1819656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A7A6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600" dirty="0"/>
          </a:p>
        </p:txBody>
      </p:sp>
      <p:sp>
        <p:nvSpPr>
          <p:cNvPr id="18" name="Shape 16"/>
          <p:cNvSpPr/>
          <p:nvPr/>
        </p:nvSpPr>
        <p:spPr>
          <a:xfrm>
            <a:off x="640080" y="2103120"/>
            <a:ext cx="6949440" cy="219456"/>
          </a:xfrm>
          <a:prstGeom prst="rect">
            <a:avLst/>
          </a:prstGeom>
          <a:solidFill>
            <a:srgbClr val="FFFFFF"/>
          </a:solidFill>
          <a:ln w="6350">
            <a:solidFill>
              <a:srgbClr val="E4E3E5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86384" y="2103120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9338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</a:t>
            </a:r>
            <a:endParaRPr lang="en-US" sz="650" dirty="0"/>
          </a:p>
        </p:txBody>
      </p:sp>
      <p:sp>
        <p:nvSpPr>
          <p:cNvPr id="20" name="Text 18"/>
          <p:cNvSpPr/>
          <p:nvPr/>
        </p:nvSpPr>
        <p:spPr>
          <a:xfrm>
            <a:off x="1792224" y="2103120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66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 Workspace</a:t>
            </a:r>
            <a:endParaRPr lang="en-US" sz="650" dirty="0"/>
          </a:p>
        </p:txBody>
      </p:sp>
      <p:sp>
        <p:nvSpPr>
          <p:cNvPr id="21" name="Text 19"/>
          <p:cNvSpPr/>
          <p:nvPr/>
        </p:nvSpPr>
        <p:spPr>
          <a:xfrm>
            <a:off x="2798064" y="2103120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66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Manufacturers</a:t>
            </a:r>
            <a:endParaRPr lang="en-US" sz="650" dirty="0"/>
          </a:p>
        </p:txBody>
      </p:sp>
      <p:sp>
        <p:nvSpPr>
          <p:cNvPr id="22" name="Shape 20"/>
          <p:cNvSpPr/>
          <p:nvPr/>
        </p:nvSpPr>
        <p:spPr>
          <a:xfrm>
            <a:off x="640080" y="2322576"/>
            <a:ext cx="6949440" cy="960120"/>
          </a:xfrm>
          <a:prstGeom prst="rect">
            <a:avLst/>
          </a:prstGeom>
          <a:solidFill>
            <a:srgbClr val="F3F2F3"/>
          </a:solidFill>
          <a:ln/>
        </p:spPr>
      </p:sp>
      <p:sp>
        <p:nvSpPr>
          <p:cNvPr id="23" name="Text 21"/>
          <p:cNvSpPr/>
          <p:nvPr/>
        </p:nvSpPr>
        <p:spPr>
          <a:xfrm>
            <a:off x="914400" y="2615184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322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Semiconductors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914400" y="2944368"/>
            <a:ext cx="1463040" cy="201168"/>
          </a:xfrm>
          <a:prstGeom prst="roundRect">
            <a:avLst>
              <a:gd name="adj" fmla="val 18182"/>
            </a:avLst>
          </a:prstGeom>
          <a:solidFill>
            <a:srgbClr val="93386C"/>
          </a:solidFill>
          <a:ln/>
        </p:spPr>
      </p:sp>
      <p:sp>
        <p:nvSpPr>
          <p:cNvPr id="25" name="Shape 23"/>
          <p:cNvSpPr/>
          <p:nvPr/>
        </p:nvSpPr>
        <p:spPr>
          <a:xfrm>
            <a:off x="2514600" y="2944368"/>
            <a:ext cx="868680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9525">
            <a:solidFill>
              <a:srgbClr val="E4E3E5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474720" y="2944368"/>
            <a:ext cx="868680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9525">
            <a:solidFill>
              <a:srgbClr val="E4E3E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434840" y="2944368"/>
            <a:ext cx="868680" cy="201168"/>
          </a:xfrm>
          <a:prstGeom prst="roundRect">
            <a:avLst>
              <a:gd name="adj" fmla="val 18182"/>
            </a:avLst>
          </a:prstGeom>
          <a:solidFill>
            <a:srgbClr val="FFFFFF"/>
          </a:solidFill>
          <a:ln w="9525">
            <a:solidFill>
              <a:srgbClr val="E4E3E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40080" y="3374136"/>
            <a:ext cx="1554480" cy="3118104"/>
          </a:xfrm>
          <a:prstGeom prst="rect">
            <a:avLst/>
          </a:prstGeom>
          <a:solidFill>
            <a:srgbClr val="FFFFFF"/>
          </a:solidFill>
          <a:ln w="6350">
            <a:solidFill>
              <a:srgbClr val="E4E3E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8096" y="3465576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3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768096" y="3758184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66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Manufacturer</a:t>
            </a:r>
            <a:endParaRPr lang="en-US" sz="700" dirty="0"/>
          </a:p>
        </p:txBody>
      </p:sp>
      <p:sp>
        <p:nvSpPr>
          <p:cNvPr id="31" name="Shape 29"/>
          <p:cNvSpPr/>
          <p:nvPr/>
        </p:nvSpPr>
        <p:spPr>
          <a:xfrm>
            <a:off x="786384" y="3959352"/>
            <a:ext cx="73152" cy="73152"/>
          </a:xfrm>
          <a:prstGeom prst="rect">
            <a:avLst/>
          </a:prstGeom>
          <a:solidFill>
            <a:srgbClr val="FFFFFF"/>
          </a:solidFill>
          <a:ln w="6350">
            <a:solidFill>
              <a:srgbClr val="A7A6A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14400" y="3968496"/>
            <a:ext cx="1005840" cy="45720"/>
          </a:xfrm>
          <a:prstGeom prst="rect">
            <a:avLst/>
          </a:prstGeom>
          <a:solidFill>
            <a:srgbClr val="E4E3E5"/>
          </a:solidFill>
          <a:ln/>
        </p:spPr>
      </p:sp>
      <p:sp>
        <p:nvSpPr>
          <p:cNvPr id="33" name="Shape 31"/>
          <p:cNvSpPr/>
          <p:nvPr/>
        </p:nvSpPr>
        <p:spPr>
          <a:xfrm>
            <a:off x="786384" y="4096512"/>
            <a:ext cx="73152" cy="73152"/>
          </a:xfrm>
          <a:prstGeom prst="rect">
            <a:avLst/>
          </a:prstGeom>
          <a:solidFill>
            <a:srgbClr val="FFFFFF"/>
          </a:solidFill>
          <a:ln w="6350">
            <a:solidFill>
              <a:srgbClr val="A7A6A9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14400" y="4105656"/>
            <a:ext cx="1005840" cy="45720"/>
          </a:xfrm>
          <a:prstGeom prst="rect">
            <a:avLst/>
          </a:prstGeom>
          <a:solidFill>
            <a:srgbClr val="E4E3E5"/>
          </a:solidFill>
          <a:ln/>
        </p:spPr>
      </p:sp>
      <p:sp>
        <p:nvSpPr>
          <p:cNvPr id="35" name="Text 33"/>
          <p:cNvSpPr/>
          <p:nvPr/>
        </p:nvSpPr>
        <p:spPr>
          <a:xfrm>
            <a:off x="768096" y="4142232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66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Type</a:t>
            </a:r>
            <a:endParaRPr lang="en-US" sz="700" dirty="0"/>
          </a:p>
        </p:txBody>
      </p:sp>
      <p:sp>
        <p:nvSpPr>
          <p:cNvPr id="36" name="Shape 34"/>
          <p:cNvSpPr/>
          <p:nvPr/>
        </p:nvSpPr>
        <p:spPr>
          <a:xfrm>
            <a:off x="786384" y="4343400"/>
            <a:ext cx="73152" cy="73152"/>
          </a:xfrm>
          <a:prstGeom prst="rect">
            <a:avLst/>
          </a:prstGeom>
          <a:solidFill>
            <a:srgbClr val="FFFFFF"/>
          </a:solidFill>
          <a:ln w="6350">
            <a:solidFill>
              <a:srgbClr val="A7A6A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14400" y="4352544"/>
            <a:ext cx="1005840" cy="45720"/>
          </a:xfrm>
          <a:prstGeom prst="rect">
            <a:avLst/>
          </a:prstGeom>
          <a:solidFill>
            <a:srgbClr val="E4E3E5"/>
          </a:solidFill>
          <a:ln/>
        </p:spPr>
      </p:sp>
      <p:sp>
        <p:nvSpPr>
          <p:cNvPr id="38" name="Shape 36"/>
          <p:cNvSpPr/>
          <p:nvPr/>
        </p:nvSpPr>
        <p:spPr>
          <a:xfrm>
            <a:off x="786384" y="4480560"/>
            <a:ext cx="73152" cy="73152"/>
          </a:xfrm>
          <a:prstGeom prst="rect">
            <a:avLst/>
          </a:prstGeom>
          <a:solidFill>
            <a:srgbClr val="FFFFFF"/>
          </a:solidFill>
          <a:ln w="6350">
            <a:solidFill>
              <a:srgbClr val="A7A6A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14400" y="4489704"/>
            <a:ext cx="1005840" cy="45720"/>
          </a:xfrm>
          <a:prstGeom prst="rect">
            <a:avLst/>
          </a:prstGeom>
          <a:solidFill>
            <a:srgbClr val="E4E3E5"/>
          </a:solidFill>
          <a:ln/>
        </p:spPr>
      </p:sp>
      <p:sp>
        <p:nvSpPr>
          <p:cNvPr id="40" name="Text 38"/>
          <p:cNvSpPr/>
          <p:nvPr/>
        </p:nvSpPr>
        <p:spPr>
          <a:xfrm>
            <a:off x="768096" y="4526280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66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786384" y="4727448"/>
            <a:ext cx="73152" cy="73152"/>
          </a:xfrm>
          <a:prstGeom prst="rect">
            <a:avLst/>
          </a:prstGeom>
          <a:solidFill>
            <a:srgbClr val="FFFFFF"/>
          </a:solidFill>
          <a:ln w="6350">
            <a:solidFill>
              <a:srgbClr val="A7A6A9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914400" y="4736592"/>
            <a:ext cx="1005840" cy="45720"/>
          </a:xfrm>
          <a:prstGeom prst="rect">
            <a:avLst/>
          </a:prstGeom>
          <a:solidFill>
            <a:srgbClr val="E4E3E5"/>
          </a:solidFill>
          <a:ln/>
        </p:spPr>
      </p:sp>
      <p:sp>
        <p:nvSpPr>
          <p:cNvPr id="43" name="Shape 41"/>
          <p:cNvSpPr/>
          <p:nvPr/>
        </p:nvSpPr>
        <p:spPr>
          <a:xfrm>
            <a:off x="786384" y="4864608"/>
            <a:ext cx="73152" cy="73152"/>
          </a:xfrm>
          <a:prstGeom prst="rect">
            <a:avLst/>
          </a:prstGeom>
          <a:solidFill>
            <a:srgbClr val="FFFFFF"/>
          </a:solidFill>
          <a:ln w="6350">
            <a:solidFill>
              <a:srgbClr val="A7A6A9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914400" y="4873752"/>
            <a:ext cx="1005840" cy="45720"/>
          </a:xfrm>
          <a:prstGeom prst="rect">
            <a:avLst/>
          </a:prstGeom>
          <a:solidFill>
            <a:srgbClr val="E4E3E5"/>
          </a:solidFill>
          <a:ln/>
        </p:spPr>
      </p:sp>
      <p:sp>
        <p:nvSpPr>
          <p:cNvPr id="45" name="Text 43"/>
          <p:cNvSpPr/>
          <p:nvPr/>
        </p:nvSpPr>
        <p:spPr>
          <a:xfrm>
            <a:off x="768096" y="4910328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666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RoHS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786384" y="5111496"/>
            <a:ext cx="73152" cy="73152"/>
          </a:xfrm>
          <a:prstGeom prst="rect">
            <a:avLst/>
          </a:prstGeom>
          <a:solidFill>
            <a:srgbClr val="FFFFFF"/>
          </a:solidFill>
          <a:ln w="6350">
            <a:solidFill>
              <a:srgbClr val="A7A6A9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914400" y="5120640"/>
            <a:ext cx="1005840" cy="45720"/>
          </a:xfrm>
          <a:prstGeom prst="rect">
            <a:avLst/>
          </a:prstGeom>
          <a:solidFill>
            <a:srgbClr val="E4E3E5"/>
          </a:solidFill>
          <a:ln/>
        </p:spPr>
      </p:sp>
      <p:sp>
        <p:nvSpPr>
          <p:cNvPr id="48" name="Shape 46"/>
          <p:cNvSpPr/>
          <p:nvPr/>
        </p:nvSpPr>
        <p:spPr>
          <a:xfrm>
            <a:off x="786384" y="5248656"/>
            <a:ext cx="73152" cy="73152"/>
          </a:xfrm>
          <a:prstGeom prst="rect">
            <a:avLst/>
          </a:prstGeom>
          <a:solidFill>
            <a:srgbClr val="FFFFFF"/>
          </a:solidFill>
          <a:ln w="6350">
            <a:solidFill>
              <a:srgbClr val="A7A6A9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914400" y="5257800"/>
            <a:ext cx="1005840" cy="45720"/>
          </a:xfrm>
          <a:prstGeom prst="rect">
            <a:avLst/>
          </a:prstGeom>
          <a:solidFill>
            <a:srgbClr val="E4E3E5"/>
          </a:solidFill>
          <a:ln/>
        </p:spPr>
      </p:sp>
      <p:sp>
        <p:nvSpPr>
          <p:cNvPr id="50" name="Shape 48"/>
          <p:cNvSpPr/>
          <p:nvPr/>
        </p:nvSpPr>
        <p:spPr>
          <a:xfrm>
            <a:off x="2377440" y="3502152"/>
            <a:ext cx="1591056" cy="2377440"/>
          </a:xfrm>
          <a:prstGeom prst="roundRect">
            <a:avLst>
              <a:gd name="adj" fmla="val 2299"/>
            </a:avLst>
          </a:prstGeom>
          <a:solidFill>
            <a:srgbClr val="FFFFFF"/>
          </a:solidFill>
          <a:ln w="9525">
            <a:solidFill>
              <a:srgbClr val="E4E3E5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2432304" y="3557016"/>
            <a:ext cx="1481328" cy="1188720"/>
          </a:xfrm>
          <a:prstGeom prst="rect">
            <a:avLst/>
          </a:prstGeom>
          <a:solidFill>
            <a:srgbClr val="F3F2F3"/>
          </a:solidFill>
          <a:ln/>
        </p:spPr>
      </p:sp>
      <p:sp>
        <p:nvSpPr>
          <p:cNvPr id="52" name="Shape 50"/>
          <p:cNvSpPr/>
          <p:nvPr/>
        </p:nvSpPr>
        <p:spPr>
          <a:xfrm>
            <a:off x="2487168" y="4928616"/>
            <a:ext cx="1133856" cy="82296"/>
          </a:xfrm>
          <a:prstGeom prst="rect">
            <a:avLst/>
          </a:prstGeom>
          <a:solidFill>
            <a:srgbClr val="D8D7D9"/>
          </a:solidFill>
          <a:ln/>
        </p:spPr>
      </p:sp>
      <p:sp>
        <p:nvSpPr>
          <p:cNvPr id="53" name="Shape 51"/>
          <p:cNvSpPr/>
          <p:nvPr/>
        </p:nvSpPr>
        <p:spPr>
          <a:xfrm>
            <a:off x="2487168" y="5056632"/>
            <a:ext cx="950976" cy="64008"/>
          </a:xfrm>
          <a:prstGeom prst="rect">
            <a:avLst/>
          </a:prstGeom>
          <a:solidFill>
            <a:srgbClr val="ECEBEC"/>
          </a:solidFill>
          <a:ln/>
        </p:spPr>
      </p:sp>
      <p:sp>
        <p:nvSpPr>
          <p:cNvPr id="54" name="Text 52"/>
          <p:cNvSpPr/>
          <p:nvPr/>
        </p:nvSpPr>
        <p:spPr>
          <a:xfrm>
            <a:off x="2487168" y="5148072"/>
            <a:ext cx="548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b="1" dirty="0">
                <a:solidFill>
                  <a:srgbClr val="1E7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RoHS</a:t>
            </a:r>
            <a:endParaRPr lang="en-US" sz="550" dirty="0"/>
          </a:p>
        </p:txBody>
      </p:sp>
      <p:sp>
        <p:nvSpPr>
          <p:cNvPr id="55" name="Text 53"/>
          <p:cNvSpPr/>
          <p:nvPr/>
        </p:nvSpPr>
        <p:spPr>
          <a:xfrm>
            <a:off x="2487168" y="5623560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3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₹146.29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4096512" y="3502152"/>
            <a:ext cx="1591056" cy="2377440"/>
          </a:xfrm>
          <a:prstGeom prst="roundRect">
            <a:avLst>
              <a:gd name="adj" fmla="val 2299"/>
            </a:avLst>
          </a:prstGeom>
          <a:solidFill>
            <a:srgbClr val="FFFFFF"/>
          </a:solidFill>
          <a:ln w="9525">
            <a:solidFill>
              <a:srgbClr val="E4E3E5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4151376" y="3557016"/>
            <a:ext cx="1481328" cy="1188720"/>
          </a:xfrm>
          <a:prstGeom prst="rect">
            <a:avLst/>
          </a:prstGeom>
          <a:solidFill>
            <a:srgbClr val="F3F2F3"/>
          </a:solidFill>
          <a:ln/>
        </p:spPr>
      </p:sp>
      <p:sp>
        <p:nvSpPr>
          <p:cNvPr id="58" name="Shape 56"/>
          <p:cNvSpPr/>
          <p:nvPr/>
        </p:nvSpPr>
        <p:spPr>
          <a:xfrm>
            <a:off x="4206240" y="4928616"/>
            <a:ext cx="1133856" cy="82296"/>
          </a:xfrm>
          <a:prstGeom prst="rect">
            <a:avLst/>
          </a:prstGeom>
          <a:solidFill>
            <a:srgbClr val="D8D7D9"/>
          </a:solidFill>
          <a:ln/>
        </p:spPr>
      </p:sp>
      <p:sp>
        <p:nvSpPr>
          <p:cNvPr id="59" name="Shape 57"/>
          <p:cNvSpPr/>
          <p:nvPr/>
        </p:nvSpPr>
        <p:spPr>
          <a:xfrm>
            <a:off x="4206240" y="5056632"/>
            <a:ext cx="950976" cy="64008"/>
          </a:xfrm>
          <a:prstGeom prst="rect">
            <a:avLst/>
          </a:prstGeom>
          <a:solidFill>
            <a:srgbClr val="ECEBEC"/>
          </a:solidFill>
          <a:ln/>
        </p:spPr>
      </p:sp>
      <p:sp>
        <p:nvSpPr>
          <p:cNvPr id="60" name="Text 58"/>
          <p:cNvSpPr/>
          <p:nvPr/>
        </p:nvSpPr>
        <p:spPr>
          <a:xfrm>
            <a:off x="4206240" y="5148072"/>
            <a:ext cx="548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b="1" dirty="0">
                <a:solidFill>
                  <a:srgbClr val="1E7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RoHS</a:t>
            </a:r>
            <a:endParaRPr lang="en-US" sz="550" dirty="0"/>
          </a:p>
        </p:txBody>
      </p:sp>
      <p:sp>
        <p:nvSpPr>
          <p:cNvPr id="61" name="Text 59"/>
          <p:cNvSpPr/>
          <p:nvPr/>
        </p:nvSpPr>
        <p:spPr>
          <a:xfrm>
            <a:off x="4206240" y="5623560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3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₹146.29</a:t>
            </a:r>
            <a:endParaRPr lang="en-US" sz="750" dirty="0"/>
          </a:p>
        </p:txBody>
      </p:sp>
      <p:sp>
        <p:nvSpPr>
          <p:cNvPr id="62" name="Shape 60"/>
          <p:cNvSpPr/>
          <p:nvPr/>
        </p:nvSpPr>
        <p:spPr>
          <a:xfrm>
            <a:off x="5815584" y="3502152"/>
            <a:ext cx="1591056" cy="2377440"/>
          </a:xfrm>
          <a:prstGeom prst="roundRect">
            <a:avLst>
              <a:gd name="adj" fmla="val 2299"/>
            </a:avLst>
          </a:prstGeom>
          <a:solidFill>
            <a:srgbClr val="FFFFFF"/>
          </a:solidFill>
          <a:ln w="9525">
            <a:solidFill>
              <a:srgbClr val="E4E3E5"/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5870448" y="3557016"/>
            <a:ext cx="1481328" cy="1188720"/>
          </a:xfrm>
          <a:prstGeom prst="rect">
            <a:avLst/>
          </a:prstGeom>
          <a:solidFill>
            <a:srgbClr val="F3F2F3"/>
          </a:solidFill>
          <a:ln/>
        </p:spPr>
      </p:sp>
      <p:sp>
        <p:nvSpPr>
          <p:cNvPr id="64" name="Shape 62"/>
          <p:cNvSpPr/>
          <p:nvPr/>
        </p:nvSpPr>
        <p:spPr>
          <a:xfrm>
            <a:off x="5925312" y="4928616"/>
            <a:ext cx="1133856" cy="82296"/>
          </a:xfrm>
          <a:prstGeom prst="rect">
            <a:avLst/>
          </a:prstGeom>
          <a:solidFill>
            <a:srgbClr val="D8D7D9"/>
          </a:solidFill>
          <a:ln/>
        </p:spPr>
      </p:sp>
      <p:sp>
        <p:nvSpPr>
          <p:cNvPr id="65" name="Shape 63"/>
          <p:cNvSpPr/>
          <p:nvPr/>
        </p:nvSpPr>
        <p:spPr>
          <a:xfrm>
            <a:off x="5925312" y="5056632"/>
            <a:ext cx="950976" cy="64008"/>
          </a:xfrm>
          <a:prstGeom prst="rect">
            <a:avLst/>
          </a:prstGeom>
          <a:solidFill>
            <a:srgbClr val="ECEBEC"/>
          </a:solidFill>
          <a:ln/>
        </p:spPr>
      </p:sp>
      <p:sp>
        <p:nvSpPr>
          <p:cNvPr id="66" name="Text 64"/>
          <p:cNvSpPr/>
          <p:nvPr/>
        </p:nvSpPr>
        <p:spPr>
          <a:xfrm>
            <a:off x="5925312" y="5148072"/>
            <a:ext cx="548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50" b="1" dirty="0">
                <a:solidFill>
                  <a:srgbClr val="1E7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RoHS</a:t>
            </a:r>
            <a:endParaRPr lang="en-US" sz="550" dirty="0"/>
          </a:p>
        </p:txBody>
      </p:sp>
      <p:sp>
        <p:nvSpPr>
          <p:cNvPr id="67" name="Text 65"/>
          <p:cNvSpPr/>
          <p:nvPr/>
        </p:nvSpPr>
        <p:spPr>
          <a:xfrm>
            <a:off x="5925312" y="5623560"/>
            <a:ext cx="1371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3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₹146.29</a:t>
            </a:r>
            <a:endParaRPr lang="en-US" sz="750" dirty="0"/>
          </a:p>
        </p:txBody>
      </p:sp>
      <p:sp>
        <p:nvSpPr>
          <p:cNvPr id="68" name="Text 66"/>
          <p:cNvSpPr/>
          <p:nvPr/>
        </p:nvSpPr>
        <p:spPr>
          <a:xfrm>
            <a:off x="7818120" y="155448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2322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Products — Multi-View Discovery</a:t>
            </a:r>
            <a:endParaRPr lang="en-US" sz="1600" dirty="0"/>
          </a:p>
        </p:txBody>
      </p:sp>
      <p:sp>
        <p:nvSpPr>
          <p:cNvPr id="69" name="Text 67"/>
          <p:cNvSpPr/>
          <p:nvPr/>
        </p:nvSpPr>
        <p:spPr>
          <a:xfrm>
            <a:off x="7818120" y="228600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338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70" name="Text 68"/>
          <p:cNvSpPr/>
          <p:nvPr/>
        </p:nvSpPr>
        <p:spPr>
          <a:xfrm>
            <a:off x="8055864" y="2286000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3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Sticky category bar — stays visible while filters &amp; results scroll beneath it</a:t>
            </a:r>
            <a:endParaRPr lang="en-US" sz="1100" dirty="0"/>
          </a:p>
        </p:txBody>
      </p:sp>
      <p:sp>
        <p:nvSpPr>
          <p:cNvPr id="71" name="Text 69"/>
          <p:cNvSpPr/>
          <p:nvPr/>
        </p:nvSpPr>
        <p:spPr>
          <a:xfrm>
            <a:off x="7818120" y="278892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338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72" name="Text 70"/>
          <p:cNvSpPr/>
          <p:nvPr/>
        </p:nvSpPr>
        <p:spPr>
          <a:xfrm>
            <a:off x="8055864" y="2788920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3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Parametric filters generated only from real product attributes — never invented</a:t>
            </a:r>
            <a:endParaRPr lang="en-US" sz="1100" dirty="0"/>
          </a:p>
        </p:txBody>
      </p:sp>
      <p:sp>
        <p:nvSpPr>
          <p:cNvPr id="73" name="Text 71"/>
          <p:cNvSpPr/>
          <p:nvPr/>
        </p:nvSpPr>
        <p:spPr>
          <a:xfrm>
            <a:off x="7818120" y="329184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338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74" name="Text 72"/>
          <p:cNvSpPr/>
          <p:nvPr/>
        </p:nvSpPr>
        <p:spPr>
          <a:xfrm>
            <a:off x="8055864" y="3291840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3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view modes: Grid, compact Table, and paged results</a:t>
            </a:r>
            <a:endParaRPr lang="en-US" sz="1100" dirty="0"/>
          </a:p>
        </p:txBody>
      </p:sp>
      <p:sp>
        <p:nvSpPr>
          <p:cNvPr id="75" name="Text 73"/>
          <p:cNvSpPr/>
          <p:nvPr/>
        </p:nvSpPr>
        <p:spPr>
          <a:xfrm>
            <a:off x="7818120" y="379476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338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76" name="Text 74"/>
          <p:cNvSpPr/>
          <p:nvPr/>
        </p:nvSpPr>
        <p:spPr>
          <a:xfrm>
            <a:off x="8055864" y="3794760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3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Independent, honest availability tiers (100+ / 500+ / 1,000+ / 5,000+ units)</a:t>
            </a:r>
            <a:endParaRPr lang="en-US" sz="1100" dirty="0"/>
          </a:p>
        </p:txBody>
      </p:sp>
      <p:sp>
        <p:nvSpPr>
          <p:cNvPr id="77" name="Text 75"/>
          <p:cNvSpPr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A6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338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— EVALUATION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8686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520"/>
              </a:lnSpc>
              <a:buNone/>
            </a:pPr>
            <a:r>
              <a:rPr lang="en-US" sz="2400" b="1" dirty="0">
                <a:solidFill>
                  <a:srgbClr val="2322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 Detail — Engineering-Grade Information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6949440" cy="5029200"/>
          </a:xfrm>
          <a:prstGeom prst="roundRect">
            <a:avLst>
              <a:gd name="adj" fmla="val 1455"/>
            </a:avLst>
          </a:prstGeom>
          <a:solidFill>
            <a:srgbClr val="FFFFFF"/>
          </a:solidFill>
          <a:ln w="12700">
            <a:solidFill>
              <a:srgbClr val="E4E3E5"/>
            </a:solidFill>
            <a:prstDash val="solid"/>
          </a:ln>
          <a:effectLst>
            <a:outerShdw sx="100000" sy="100000" kx="0" ky="0" algn="bl" rotWithShape="0" blurRad="177800" dist="76200" dir="54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463040"/>
            <a:ext cx="6949440" cy="256032"/>
          </a:xfrm>
          <a:prstGeom prst="roundRect">
            <a:avLst>
              <a:gd name="adj" fmla="val 28571"/>
            </a:avLst>
          </a:prstGeom>
          <a:solidFill>
            <a:srgbClr val="F0EFF0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591056"/>
            <a:ext cx="6949440" cy="128016"/>
          </a:xfrm>
          <a:prstGeom prst="rect">
            <a:avLst/>
          </a:prstGeom>
          <a:solidFill>
            <a:srgbClr val="F0EFF0"/>
          </a:solidFill>
          <a:ln/>
        </p:spPr>
      </p:sp>
      <p:sp>
        <p:nvSpPr>
          <p:cNvPr id="7" name="Shape 5"/>
          <p:cNvSpPr/>
          <p:nvPr/>
        </p:nvSpPr>
        <p:spPr>
          <a:xfrm>
            <a:off x="749808" y="1554480"/>
            <a:ext cx="73152" cy="73152"/>
          </a:xfrm>
          <a:prstGeom prst="ellipse">
            <a:avLst/>
          </a:prstGeom>
          <a:solidFill>
            <a:srgbClr val="E4E3E5"/>
          </a:solidFill>
          <a:ln/>
        </p:spPr>
      </p:sp>
      <p:sp>
        <p:nvSpPr>
          <p:cNvPr id="8" name="Shape 6"/>
          <p:cNvSpPr/>
          <p:nvPr/>
        </p:nvSpPr>
        <p:spPr>
          <a:xfrm>
            <a:off x="896112" y="1554480"/>
            <a:ext cx="73152" cy="73152"/>
          </a:xfrm>
          <a:prstGeom prst="ellipse">
            <a:avLst/>
          </a:prstGeom>
          <a:solidFill>
            <a:srgbClr val="E4E3E5"/>
          </a:solidFill>
          <a:ln/>
        </p:spPr>
      </p:sp>
      <p:sp>
        <p:nvSpPr>
          <p:cNvPr id="9" name="Shape 7"/>
          <p:cNvSpPr/>
          <p:nvPr/>
        </p:nvSpPr>
        <p:spPr>
          <a:xfrm>
            <a:off x="1042416" y="1554480"/>
            <a:ext cx="73152" cy="73152"/>
          </a:xfrm>
          <a:prstGeom prst="ellipse">
            <a:avLst/>
          </a:prstGeom>
          <a:solidFill>
            <a:srgbClr val="E4E3E5"/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" y="1719072"/>
            <a:ext cx="69494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4E3E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68096" y="1810512"/>
            <a:ext cx="201168" cy="201168"/>
          </a:xfrm>
          <a:prstGeom prst="ellipse">
            <a:avLst/>
          </a:prstGeom>
          <a:solidFill>
            <a:srgbClr val="93386C"/>
          </a:solidFill>
          <a:ln/>
        </p:spPr>
      </p:sp>
      <p:sp>
        <p:nvSpPr>
          <p:cNvPr id="12" name="Text 10"/>
          <p:cNvSpPr/>
          <p:nvPr/>
        </p:nvSpPr>
        <p:spPr>
          <a:xfrm>
            <a:off x="1024128" y="171907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3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MILLENNIUM DIGITAL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200400" y="1792224"/>
            <a:ext cx="2194560" cy="237744"/>
          </a:xfrm>
          <a:prstGeom prst="roundRect">
            <a:avLst>
              <a:gd name="adj" fmla="val 19231"/>
            </a:avLst>
          </a:prstGeom>
          <a:solidFill>
            <a:srgbClr val="FAFAFA"/>
          </a:solidFill>
          <a:ln w="6350">
            <a:solidFill>
              <a:srgbClr val="E4E3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10128" y="179222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7A6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products, categories, manufacturers…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6675120" y="1819656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A7A6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600" dirty="0"/>
          </a:p>
        </p:txBody>
      </p:sp>
      <p:sp>
        <p:nvSpPr>
          <p:cNvPr id="16" name="Text 14"/>
          <p:cNvSpPr/>
          <p:nvPr/>
        </p:nvSpPr>
        <p:spPr>
          <a:xfrm>
            <a:off x="6967728" y="1819656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A7A6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600" dirty="0"/>
          </a:p>
        </p:txBody>
      </p:sp>
      <p:sp>
        <p:nvSpPr>
          <p:cNvPr id="17" name="Text 15"/>
          <p:cNvSpPr/>
          <p:nvPr/>
        </p:nvSpPr>
        <p:spPr>
          <a:xfrm>
            <a:off x="7260336" y="1819656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A7A6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600" dirty="0"/>
          </a:p>
        </p:txBody>
      </p:sp>
      <p:sp>
        <p:nvSpPr>
          <p:cNvPr id="18" name="Text 16"/>
          <p:cNvSpPr/>
          <p:nvPr/>
        </p:nvSpPr>
        <p:spPr>
          <a:xfrm>
            <a:off x="822960" y="2231136"/>
            <a:ext cx="6583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666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› Semiconductors › Vishay › 3KDFN18CA-M3/H</a:t>
            </a:r>
            <a:endParaRPr lang="en-US" sz="650" dirty="0"/>
          </a:p>
        </p:txBody>
      </p:sp>
      <p:sp>
        <p:nvSpPr>
          <p:cNvPr id="19" name="Shape 17"/>
          <p:cNvSpPr/>
          <p:nvPr/>
        </p:nvSpPr>
        <p:spPr>
          <a:xfrm>
            <a:off x="822960" y="2487168"/>
            <a:ext cx="32004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E4E3E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77824" y="2542032"/>
            <a:ext cx="210312" cy="210312"/>
          </a:xfrm>
          <a:prstGeom prst="rect">
            <a:avLst/>
          </a:prstGeom>
          <a:solidFill>
            <a:srgbClr val="F0EFF0"/>
          </a:solidFill>
          <a:ln w="12700">
            <a:solidFill>
              <a:srgbClr val="93386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77824" y="3108960"/>
            <a:ext cx="210312" cy="210312"/>
          </a:xfrm>
          <a:prstGeom prst="rect">
            <a:avLst/>
          </a:prstGeom>
          <a:solidFill>
            <a:srgbClr val="F0EFF0"/>
          </a:solidFill>
          <a:ln w="6350">
            <a:solidFill>
              <a:srgbClr val="E4E3E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77824" y="3675888"/>
            <a:ext cx="210312" cy="210312"/>
          </a:xfrm>
          <a:prstGeom prst="rect">
            <a:avLst/>
          </a:prstGeom>
          <a:solidFill>
            <a:srgbClr val="F0EFF0"/>
          </a:solidFill>
          <a:ln w="6350">
            <a:solidFill>
              <a:srgbClr val="E4E3E5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207008" y="2487168"/>
            <a:ext cx="1828800" cy="1828800"/>
          </a:xfrm>
          <a:prstGeom prst="rect">
            <a:avLst/>
          </a:prstGeom>
          <a:solidFill>
            <a:srgbClr val="F3F2F3"/>
          </a:solidFill>
          <a:ln w="6350">
            <a:solidFill>
              <a:srgbClr val="E4E3E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310128" y="2505456"/>
            <a:ext cx="914400" cy="201168"/>
          </a:xfrm>
          <a:prstGeom prst="rect">
            <a:avLst/>
          </a:prstGeom>
          <a:solidFill>
            <a:srgbClr val="ECEBEC"/>
          </a:solidFill>
          <a:ln/>
        </p:spPr>
      </p:sp>
      <p:sp>
        <p:nvSpPr>
          <p:cNvPr id="25" name="Text 23"/>
          <p:cNvSpPr/>
          <p:nvPr/>
        </p:nvSpPr>
        <p:spPr>
          <a:xfrm>
            <a:off x="3310128" y="2779776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322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3KDFN18CA-M3/H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3310128" y="3054096"/>
            <a:ext cx="1280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322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₹146.29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590288" y="3090672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1E7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In Stock · 3,000 avail.</a:t>
            </a:r>
            <a:endParaRPr lang="en-US" sz="700" dirty="0"/>
          </a:p>
        </p:txBody>
      </p:sp>
      <p:sp>
        <p:nvSpPr>
          <p:cNvPr id="28" name="Shape 26"/>
          <p:cNvSpPr/>
          <p:nvPr/>
        </p:nvSpPr>
        <p:spPr>
          <a:xfrm>
            <a:off x="3310128" y="3328416"/>
            <a:ext cx="457200" cy="164592"/>
          </a:xfrm>
          <a:prstGeom prst="roundRect">
            <a:avLst>
              <a:gd name="adj" fmla="val 44444"/>
            </a:avLst>
          </a:prstGeom>
          <a:solidFill>
            <a:srgbClr val="ECEBEC"/>
          </a:solidFill>
          <a:ln/>
        </p:spPr>
      </p:sp>
      <p:sp>
        <p:nvSpPr>
          <p:cNvPr id="29" name="Shape 27"/>
          <p:cNvSpPr/>
          <p:nvPr/>
        </p:nvSpPr>
        <p:spPr>
          <a:xfrm>
            <a:off x="3813048" y="3328416"/>
            <a:ext cx="457200" cy="164592"/>
          </a:xfrm>
          <a:prstGeom prst="roundRect">
            <a:avLst>
              <a:gd name="adj" fmla="val 44444"/>
            </a:avLst>
          </a:prstGeom>
          <a:solidFill>
            <a:srgbClr val="ECEBEC"/>
          </a:solidFill>
          <a:ln/>
        </p:spPr>
      </p:sp>
      <p:sp>
        <p:nvSpPr>
          <p:cNvPr id="30" name="Text 28"/>
          <p:cNvSpPr/>
          <p:nvPr/>
        </p:nvSpPr>
        <p:spPr>
          <a:xfrm>
            <a:off x="4361688" y="3328416"/>
            <a:ext cx="457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b="1" dirty="0">
                <a:solidFill>
                  <a:srgbClr val="1E7B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RoHS</a:t>
            </a:r>
            <a:endParaRPr lang="en-US" sz="650" dirty="0"/>
          </a:p>
        </p:txBody>
      </p:sp>
      <p:sp>
        <p:nvSpPr>
          <p:cNvPr id="31" name="Shape 29"/>
          <p:cNvSpPr/>
          <p:nvPr/>
        </p:nvSpPr>
        <p:spPr>
          <a:xfrm>
            <a:off x="3310128" y="3584448"/>
            <a:ext cx="3017520" cy="237744"/>
          </a:xfrm>
          <a:prstGeom prst="roundRect">
            <a:avLst>
              <a:gd name="adj" fmla="val 15385"/>
            </a:avLst>
          </a:prstGeom>
          <a:solidFill>
            <a:srgbClr val="93386C"/>
          </a:solidFill>
          <a:ln w="12700">
            <a:solidFill>
              <a:srgbClr val="93386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310128" y="3584448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to Cart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3310128" y="3877056"/>
            <a:ext cx="3017520" cy="237744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E4E3E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310128" y="3877056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3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 Now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3310128" y="4169664"/>
            <a:ext cx="3017520" cy="237744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E4E3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310128" y="4169664"/>
            <a:ext cx="3017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23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Quote (RFQ)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822960" y="4636008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3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Information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822960" y="4855464"/>
            <a:ext cx="6583680" cy="219456"/>
          </a:xfrm>
          <a:prstGeom prst="rect">
            <a:avLst/>
          </a:prstGeom>
          <a:solidFill>
            <a:srgbClr val="FFFFFF"/>
          </a:solidFill>
          <a:ln w="3175">
            <a:solidFill>
              <a:srgbClr val="E4E3E5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14400" y="4855464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Manufacturer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2834640" y="4855464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3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Vishay Semiconductors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822960" y="5074920"/>
            <a:ext cx="6583680" cy="219456"/>
          </a:xfrm>
          <a:prstGeom prst="rect">
            <a:avLst/>
          </a:prstGeom>
          <a:solidFill>
            <a:srgbClr val="F6F5F6"/>
          </a:solidFill>
          <a:ln w="3175">
            <a:solidFill>
              <a:srgbClr val="E4E3E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14400" y="5074920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</a:t>
            </a:r>
            <a:endParaRPr lang="en-US" sz="700" dirty="0"/>
          </a:p>
        </p:txBody>
      </p:sp>
      <p:sp>
        <p:nvSpPr>
          <p:cNvPr id="43" name="Text 41"/>
          <p:cNvSpPr/>
          <p:nvPr/>
        </p:nvSpPr>
        <p:spPr>
          <a:xfrm>
            <a:off x="2834640" y="5074920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3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DFN-8</a:t>
            </a:r>
            <a:endParaRPr lang="en-US" sz="700" dirty="0"/>
          </a:p>
        </p:txBody>
      </p:sp>
      <p:sp>
        <p:nvSpPr>
          <p:cNvPr id="44" name="Shape 42"/>
          <p:cNvSpPr/>
          <p:nvPr/>
        </p:nvSpPr>
        <p:spPr>
          <a:xfrm>
            <a:off x="822960" y="5294376"/>
            <a:ext cx="6583680" cy="219456"/>
          </a:xfrm>
          <a:prstGeom prst="rect">
            <a:avLst/>
          </a:prstGeom>
          <a:solidFill>
            <a:srgbClr val="FFFFFF"/>
          </a:solidFill>
          <a:ln w="3175">
            <a:solidFill>
              <a:srgbClr val="E4E3E5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14400" y="5294376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</a:t>
            </a:r>
            <a:endParaRPr lang="en-US" sz="700" dirty="0"/>
          </a:p>
        </p:txBody>
      </p:sp>
      <p:sp>
        <p:nvSpPr>
          <p:cNvPr id="46" name="Text 44"/>
          <p:cNvSpPr/>
          <p:nvPr/>
        </p:nvSpPr>
        <p:spPr>
          <a:xfrm>
            <a:off x="2834640" y="5294376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3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</a:t>
            </a:r>
            <a:endParaRPr lang="en-US" sz="700" dirty="0"/>
          </a:p>
        </p:txBody>
      </p:sp>
      <p:sp>
        <p:nvSpPr>
          <p:cNvPr id="47" name="Shape 45"/>
          <p:cNvSpPr/>
          <p:nvPr/>
        </p:nvSpPr>
        <p:spPr>
          <a:xfrm>
            <a:off x="822960" y="5513832"/>
            <a:ext cx="6583680" cy="219456"/>
          </a:xfrm>
          <a:prstGeom prst="rect">
            <a:avLst/>
          </a:prstGeom>
          <a:solidFill>
            <a:srgbClr val="F6F5F6"/>
          </a:solidFill>
          <a:ln w="3175">
            <a:solidFill>
              <a:srgbClr val="E4E3E5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914400" y="5513832"/>
            <a:ext cx="1828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Lifecycle</a:t>
            </a:r>
            <a:endParaRPr lang="en-US" sz="700" dirty="0"/>
          </a:p>
        </p:txBody>
      </p:sp>
      <p:sp>
        <p:nvSpPr>
          <p:cNvPr id="49" name="Text 47"/>
          <p:cNvSpPr/>
          <p:nvPr/>
        </p:nvSpPr>
        <p:spPr>
          <a:xfrm>
            <a:off x="2834640" y="5513832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3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Product</a:t>
            </a:r>
            <a:endParaRPr lang="en-US" sz="700" dirty="0"/>
          </a:p>
        </p:txBody>
      </p:sp>
      <p:sp>
        <p:nvSpPr>
          <p:cNvPr id="50" name="Text 48"/>
          <p:cNvSpPr/>
          <p:nvPr/>
        </p:nvSpPr>
        <p:spPr>
          <a:xfrm>
            <a:off x="7818120" y="155448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2322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for How Engineers Evaluate Parts</a:t>
            </a:r>
            <a:endParaRPr lang="en-US" sz="1600" dirty="0"/>
          </a:p>
        </p:txBody>
      </p:sp>
      <p:sp>
        <p:nvSpPr>
          <p:cNvPr id="51" name="Text 49"/>
          <p:cNvSpPr/>
          <p:nvPr/>
        </p:nvSpPr>
        <p:spPr>
          <a:xfrm>
            <a:off x="7818120" y="228600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338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8055864" y="2286000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3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Click-to-zoom image viewer with a hover magnifier lens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7818120" y="276148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338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8055864" y="2761488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3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Manufacturer logo links straight to that supplier’s full catalog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7818120" y="323697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338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8055864" y="3236976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3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spec, compliance &amp; availability tables — only real fields shown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7818120" y="371246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338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8055864" y="3712464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3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RoHS mark redrawn to match the official compliance icon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7818120" y="418795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338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8055864" y="4187952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3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to Cart, Buy Now, or Request Quote — three purchasing paths from one page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A6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338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 — PURCHASING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520"/>
              </a:lnSpc>
              <a:buNone/>
            </a:pPr>
            <a:r>
              <a:rPr lang="en-US" sz="2400" b="1" dirty="0">
                <a:solidFill>
                  <a:srgbClr val="2322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Cart &amp; a Persistent Checkout Order Summary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463040"/>
            <a:ext cx="6949440" cy="5029200"/>
          </a:xfrm>
          <a:prstGeom prst="roundRect">
            <a:avLst>
              <a:gd name="adj" fmla="val 1455"/>
            </a:avLst>
          </a:prstGeom>
          <a:solidFill>
            <a:srgbClr val="FFFFFF"/>
          </a:solidFill>
          <a:ln w="12700">
            <a:solidFill>
              <a:srgbClr val="E4E3E5"/>
            </a:solidFill>
            <a:prstDash val="solid"/>
          </a:ln>
          <a:effectLst>
            <a:outerShdw sx="100000" sy="100000" kx="0" ky="0" algn="bl" rotWithShape="0" blurRad="177800" dist="76200" dir="54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463040"/>
            <a:ext cx="6949440" cy="256032"/>
          </a:xfrm>
          <a:prstGeom prst="roundRect">
            <a:avLst>
              <a:gd name="adj" fmla="val 28571"/>
            </a:avLst>
          </a:prstGeom>
          <a:solidFill>
            <a:srgbClr val="F0EFF0"/>
          </a:solidFill>
          <a:ln/>
        </p:spPr>
      </p:sp>
      <p:sp>
        <p:nvSpPr>
          <p:cNvPr id="6" name="Shape 4"/>
          <p:cNvSpPr/>
          <p:nvPr/>
        </p:nvSpPr>
        <p:spPr>
          <a:xfrm>
            <a:off x="640080" y="1591056"/>
            <a:ext cx="6949440" cy="128016"/>
          </a:xfrm>
          <a:prstGeom prst="rect">
            <a:avLst/>
          </a:prstGeom>
          <a:solidFill>
            <a:srgbClr val="F0EFF0"/>
          </a:solidFill>
          <a:ln/>
        </p:spPr>
      </p:sp>
      <p:sp>
        <p:nvSpPr>
          <p:cNvPr id="7" name="Shape 5"/>
          <p:cNvSpPr/>
          <p:nvPr/>
        </p:nvSpPr>
        <p:spPr>
          <a:xfrm>
            <a:off x="749808" y="1554480"/>
            <a:ext cx="73152" cy="73152"/>
          </a:xfrm>
          <a:prstGeom prst="ellipse">
            <a:avLst/>
          </a:prstGeom>
          <a:solidFill>
            <a:srgbClr val="E4E3E5"/>
          </a:solidFill>
          <a:ln/>
        </p:spPr>
      </p:sp>
      <p:sp>
        <p:nvSpPr>
          <p:cNvPr id="8" name="Shape 6"/>
          <p:cNvSpPr/>
          <p:nvPr/>
        </p:nvSpPr>
        <p:spPr>
          <a:xfrm>
            <a:off x="896112" y="1554480"/>
            <a:ext cx="73152" cy="73152"/>
          </a:xfrm>
          <a:prstGeom prst="ellipse">
            <a:avLst/>
          </a:prstGeom>
          <a:solidFill>
            <a:srgbClr val="E4E3E5"/>
          </a:solidFill>
          <a:ln/>
        </p:spPr>
      </p:sp>
      <p:sp>
        <p:nvSpPr>
          <p:cNvPr id="9" name="Shape 7"/>
          <p:cNvSpPr/>
          <p:nvPr/>
        </p:nvSpPr>
        <p:spPr>
          <a:xfrm>
            <a:off x="1042416" y="1554480"/>
            <a:ext cx="73152" cy="73152"/>
          </a:xfrm>
          <a:prstGeom prst="ellipse">
            <a:avLst/>
          </a:prstGeom>
          <a:solidFill>
            <a:srgbClr val="E4E3E5"/>
          </a:solidFill>
          <a:ln/>
        </p:spPr>
      </p:sp>
      <p:sp>
        <p:nvSpPr>
          <p:cNvPr id="10" name="Shape 8"/>
          <p:cNvSpPr/>
          <p:nvPr/>
        </p:nvSpPr>
        <p:spPr>
          <a:xfrm>
            <a:off x="640080" y="1719072"/>
            <a:ext cx="6949440" cy="384048"/>
          </a:xfrm>
          <a:prstGeom prst="rect">
            <a:avLst/>
          </a:prstGeom>
          <a:solidFill>
            <a:srgbClr val="FFFFFF"/>
          </a:solidFill>
          <a:ln w="6350">
            <a:solidFill>
              <a:srgbClr val="E4E3E5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68096" y="1810512"/>
            <a:ext cx="201168" cy="201168"/>
          </a:xfrm>
          <a:prstGeom prst="ellipse">
            <a:avLst/>
          </a:prstGeom>
          <a:solidFill>
            <a:srgbClr val="93386C"/>
          </a:solidFill>
          <a:ln/>
        </p:spPr>
      </p:sp>
      <p:sp>
        <p:nvSpPr>
          <p:cNvPr id="12" name="Text 10"/>
          <p:cNvSpPr/>
          <p:nvPr/>
        </p:nvSpPr>
        <p:spPr>
          <a:xfrm>
            <a:off x="1024128" y="1719072"/>
            <a:ext cx="2011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3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MILLENNIUM DIGITAL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3200400" y="1792224"/>
            <a:ext cx="2194560" cy="237744"/>
          </a:xfrm>
          <a:prstGeom prst="roundRect">
            <a:avLst>
              <a:gd name="adj" fmla="val 19231"/>
            </a:avLst>
          </a:prstGeom>
          <a:solidFill>
            <a:srgbClr val="FAFAFA"/>
          </a:solidFill>
          <a:ln w="6350">
            <a:solidFill>
              <a:srgbClr val="E4E3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310128" y="1792224"/>
            <a:ext cx="2011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A7A6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products, categories, manufacturers…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6675120" y="1819656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A7A6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600" dirty="0"/>
          </a:p>
        </p:txBody>
      </p:sp>
      <p:sp>
        <p:nvSpPr>
          <p:cNvPr id="16" name="Text 14"/>
          <p:cNvSpPr/>
          <p:nvPr/>
        </p:nvSpPr>
        <p:spPr>
          <a:xfrm>
            <a:off x="6967728" y="1819656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A7A6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600" dirty="0"/>
          </a:p>
        </p:txBody>
      </p:sp>
      <p:sp>
        <p:nvSpPr>
          <p:cNvPr id="17" name="Text 15"/>
          <p:cNvSpPr/>
          <p:nvPr/>
        </p:nvSpPr>
        <p:spPr>
          <a:xfrm>
            <a:off x="7260336" y="1819656"/>
            <a:ext cx="21945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dirty="0">
                <a:solidFill>
                  <a:srgbClr val="A7A6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600" dirty="0"/>
          </a:p>
        </p:txBody>
      </p:sp>
      <p:sp>
        <p:nvSpPr>
          <p:cNvPr id="18" name="Text 16"/>
          <p:cNvSpPr/>
          <p:nvPr/>
        </p:nvSpPr>
        <p:spPr>
          <a:xfrm>
            <a:off x="822960" y="228600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322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Checkout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22960" y="2560320"/>
            <a:ext cx="182880" cy="182880"/>
          </a:xfrm>
          <a:prstGeom prst="ellipse">
            <a:avLst/>
          </a:prstGeom>
          <a:solidFill>
            <a:srgbClr val="93386C"/>
          </a:solidFill>
          <a:ln/>
        </p:spPr>
      </p:sp>
      <p:sp>
        <p:nvSpPr>
          <p:cNvPr id="20" name="Text 18"/>
          <p:cNvSpPr/>
          <p:nvPr/>
        </p:nvSpPr>
        <p:spPr>
          <a:xfrm>
            <a:off x="685800" y="2761488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9338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</a:t>
            </a:r>
            <a:endParaRPr lang="en-US" sz="550" dirty="0"/>
          </a:p>
        </p:txBody>
      </p:sp>
      <p:sp>
        <p:nvSpPr>
          <p:cNvPr id="21" name="Shape 19"/>
          <p:cNvSpPr/>
          <p:nvPr/>
        </p:nvSpPr>
        <p:spPr>
          <a:xfrm>
            <a:off x="1005840" y="2651760"/>
            <a:ext cx="822960" cy="0"/>
          </a:xfrm>
          <a:prstGeom prst="line">
            <a:avLst/>
          </a:prstGeom>
          <a:noFill/>
          <a:ln w="12700">
            <a:solidFill>
              <a:srgbClr val="E4E3E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828800" y="2560320"/>
            <a:ext cx="182880" cy="182880"/>
          </a:xfrm>
          <a:prstGeom prst="ellipse">
            <a:avLst/>
          </a:prstGeom>
          <a:solidFill>
            <a:srgbClr val="93386C"/>
          </a:solidFill>
          <a:ln/>
        </p:spPr>
      </p:sp>
      <p:sp>
        <p:nvSpPr>
          <p:cNvPr id="23" name="Text 21"/>
          <p:cNvSpPr/>
          <p:nvPr/>
        </p:nvSpPr>
        <p:spPr>
          <a:xfrm>
            <a:off x="1691640" y="2761488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9338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</a:t>
            </a:r>
            <a:endParaRPr lang="en-US" sz="550" dirty="0"/>
          </a:p>
        </p:txBody>
      </p:sp>
      <p:sp>
        <p:nvSpPr>
          <p:cNvPr id="24" name="Shape 22"/>
          <p:cNvSpPr/>
          <p:nvPr/>
        </p:nvSpPr>
        <p:spPr>
          <a:xfrm>
            <a:off x="2011680" y="2651760"/>
            <a:ext cx="822960" cy="0"/>
          </a:xfrm>
          <a:prstGeom prst="line">
            <a:avLst/>
          </a:prstGeom>
          <a:noFill/>
          <a:ln w="12700">
            <a:solidFill>
              <a:srgbClr val="E4E3E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834640" y="2560320"/>
            <a:ext cx="182880" cy="182880"/>
          </a:xfrm>
          <a:prstGeom prst="ellipse">
            <a:avLst/>
          </a:prstGeom>
          <a:solidFill>
            <a:srgbClr val="E4E3E5"/>
          </a:solidFill>
          <a:ln/>
        </p:spPr>
      </p:sp>
      <p:sp>
        <p:nvSpPr>
          <p:cNvPr id="26" name="Text 24"/>
          <p:cNvSpPr/>
          <p:nvPr/>
        </p:nvSpPr>
        <p:spPr>
          <a:xfrm>
            <a:off x="2697480" y="2761488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666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Shipping</a:t>
            </a:r>
            <a:endParaRPr lang="en-US" sz="550" dirty="0"/>
          </a:p>
        </p:txBody>
      </p:sp>
      <p:sp>
        <p:nvSpPr>
          <p:cNvPr id="27" name="Shape 25"/>
          <p:cNvSpPr/>
          <p:nvPr/>
        </p:nvSpPr>
        <p:spPr>
          <a:xfrm>
            <a:off x="3017520" y="2651760"/>
            <a:ext cx="822960" cy="0"/>
          </a:xfrm>
          <a:prstGeom prst="line">
            <a:avLst/>
          </a:prstGeom>
          <a:noFill/>
          <a:ln w="12700">
            <a:solidFill>
              <a:srgbClr val="E4E3E5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840480" y="2560320"/>
            <a:ext cx="182880" cy="182880"/>
          </a:xfrm>
          <a:prstGeom prst="ellipse">
            <a:avLst/>
          </a:prstGeom>
          <a:solidFill>
            <a:srgbClr val="E4E3E5"/>
          </a:solidFill>
          <a:ln/>
        </p:spPr>
      </p:sp>
      <p:sp>
        <p:nvSpPr>
          <p:cNvPr id="29" name="Text 27"/>
          <p:cNvSpPr/>
          <p:nvPr/>
        </p:nvSpPr>
        <p:spPr>
          <a:xfrm>
            <a:off x="3703320" y="2761488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666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</a:t>
            </a:r>
            <a:endParaRPr lang="en-US" sz="550" dirty="0"/>
          </a:p>
        </p:txBody>
      </p:sp>
      <p:sp>
        <p:nvSpPr>
          <p:cNvPr id="30" name="Shape 28"/>
          <p:cNvSpPr/>
          <p:nvPr/>
        </p:nvSpPr>
        <p:spPr>
          <a:xfrm>
            <a:off x="4023360" y="2651760"/>
            <a:ext cx="822960" cy="0"/>
          </a:xfrm>
          <a:prstGeom prst="line">
            <a:avLst/>
          </a:prstGeom>
          <a:noFill/>
          <a:ln w="12700">
            <a:solidFill>
              <a:srgbClr val="E4E3E5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846320" y="2560320"/>
            <a:ext cx="182880" cy="182880"/>
          </a:xfrm>
          <a:prstGeom prst="ellipse">
            <a:avLst/>
          </a:prstGeom>
          <a:solidFill>
            <a:srgbClr val="E4E3E5"/>
          </a:solidFill>
          <a:ln/>
        </p:spPr>
      </p:sp>
      <p:sp>
        <p:nvSpPr>
          <p:cNvPr id="32" name="Text 30"/>
          <p:cNvSpPr/>
          <p:nvPr/>
        </p:nvSpPr>
        <p:spPr>
          <a:xfrm>
            <a:off x="4709160" y="2761488"/>
            <a:ext cx="5029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50" dirty="0">
                <a:solidFill>
                  <a:srgbClr val="666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550" dirty="0"/>
          </a:p>
        </p:txBody>
      </p:sp>
      <p:sp>
        <p:nvSpPr>
          <p:cNvPr id="33" name="Shape 31"/>
          <p:cNvSpPr/>
          <p:nvPr/>
        </p:nvSpPr>
        <p:spPr>
          <a:xfrm>
            <a:off x="822960" y="3063240"/>
            <a:ext cx="3849624" cy="658368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9525">
            <a:solidFill>
              <a:srgbClr val="E4E3E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32688" y="3191256"/>
            <a:ext cx="402336" cy="402336"/>
          </a:xfrm>
          <a:prstGeom prst="rect">
            <a:avLst/>
          </a:prstGeom>
          <a:solidFill>
            <a:srgbClr val="F3F2F3"/>
          </a:solidFill>
          <a:ln/>
        </p:spPr>
      </p:sp>
      <p:sp>
        <p:nvSpPr>
          <p:cNvPr id="35" name="Shape 33"/>
          <p:cNvSpPr/>
          <p:nvPr/>
        </p:nvSpPr>
        <p:spPr>
          <a:xfrm>
            <a:off x="1444752" y="3227832"/>
            <a:ext cx="1463040" cy="82296"/>
          </a:xfrm>
          <a:prstGeom prst="rect">
            <a:avLst/>
          </a:prstGeom>
          <a:solidFill>
            <a:srgbClr val="D8D7D9"/>
          </a:solidFill>
          <a:ln/>
        </p:spPr>
      </p:sp>
      <p:sp>
        <p:nvSpPr>
          <p:cNvPr id="36" name="Shape 34"/>
          <p:cNvSpPr/>
          <p:nvPr/>
        </p:nvSpPr>
        <p:spPr>
          <a:xfrm>
            <a:off x="1444752" y="3374136"/>
            <a:ext cx="1005840" cy="64008"/>
          </a:xfrm>
          <a:prstGeom prst="rect">
            <a:avLst/>
          </a:prstGeom>
          <a:solidFill>
            <a:srgbClr val="ECEBEC"/>
          </a:solidFill>
          <a:ln/>
        </p:spPr>
      </p:sp>
      <p:sp>
        <p:nvSpPr>
          <p:cNvPr id="37" name="Text 35"/>
          <p:cNvSpPr/>
          <p:nvPr/>
        </p:nvSpPr>
        <p:spPr>
          <a:xfrm>
            <a:off x="3712464" y="3282696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3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₹146.00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822960" y="3840480"/>
            <a:ext cx="3849624" cy="658368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9525">
            <a:solidFill>
              <a:srgbClr val="E4E3E5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932688" y="3968496"/>
            <a:ext cx="402336" cy="402336"/>
          </a:xfrm>
          <a:prstGeom prst="rect">
            <a:avLst/>
          </a:prstGeom>
          <a:solidFill>
            <a:srgbClr val="F3F2F3"/>
          </a:solidFill>
          <a:ln/>
        </p:spPr>
      </p:sp>
      <p:sp>
        <p:nvSpPr>
          <p:cNvPr id="40" name="Shape 38"/>
          <p:cNvSpPr/>
          <p:nvPr/>
        </p:nvSpPr>
        <p:spPr>
          <a:xfrm>
            <a:off x="1444752" y="4005072"/>
            <a:ext cx="1463040" cy="82296"/>
          </a:xfrm>
          <a:prstGeom prst="rect">
            <a:avLst/>
          </a:prstGeom>
          <a:solidFill>
            <a:srgbClr val="D8D7D9"/>
          </a:solidFill>
          <a:ln/>
        </p:spPr>
      </p:sp>
      <p:sp>
        <p:nvSpPr>
          <p:cNvPr id="41" name="Shape 39"/>
          <p:cNvSpPr/>
          <p:nvPr/>
        </p:nvSpPr>
        <p:spPr>
          <a:xfrm>
            <a:off x="1444752" y="4151376"/>
            <a:ext cx="1005840" cy="64008"/>
          </a:xfrm>
          <a:prstGeom prst="rect">
            <a:avLst/>
          </a:prstGeom>
          <a:solidFill>
            <a:srgbClr val="ECEBEC"/>
          </a:solidFill>
          <a:ln/>
        </p:spPr>
      </p:sp>
      <p:sp>
        <p:nvSpPr>
          <p:cNvPr id="42" name="Text 40"/>
          <p:cNvSpPr/>
          <p:nvPr/>
        </p:nvSpPr>
        <p:spPr>
          <a:xfrm>
            <a:off x="3712464" y="4059936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3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₹386.00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822960" y="4617720"/>
            <a:ext cx="3849624" cy="658368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9525">
            <a:solidFill>
              <a:srgbClr val="E4E3E5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932688" y="4745736"/>
            <a:ext cx="402336" cy="402336"/>
          </a:xfrm>
          <a:prstGeom prst="rect">
            <a:avLst/>
          </a:prstGeom>
          <a:solidFill>
            <a:srgbClr val="F3F2F3"/>
          </a:solidFill>
          <a:ln/>
        </p:spPr>
      </p:sp>
      <p:sp>
        <p:nvSpPr>
          <p:cNvPr id="45" name="Shape 43"/>
          <p:cNvSpPr/>
          <p:nvPr/>
        </p:nvSpPr>
        <p:spPr>
          <a:xfrm>
            <a:off x="1444752" y="4782312"/>
            <a:ext cx="1463040" cy="82296"/>
          </a:xfrm>
          <a:prstGeom prst="rect">
            <a:avLst/>
          </a:prstGeom>
          <a:solidFill>
            <a:srgbClr val="D8D7D9"/>
          </a:solidFill>
          <a:ln/>
        </p:spPr>
      </p:sp>
      <p:sp>
        <p:nvSpPr>
          <p:cNvPr id="46" name="Shape 44"/>
          <p:cNvSpPr/>
          <p:nvPr/>
        </p:nvSpPr>
        <p:spPr>
          <a:xfrm>
            <a:off x="1444752" y="4928616"/>
            <a:ext cx="1005840" cy="64008"/>
          </a:xfrm>
          <a:prstGeom prst="rect">
            <a:avLst/>
          </a:prstGeom>
          <a:solidFill>
            <a:srgbClr val="ECEBEC"/>
          </a:solidFill>
          <a:ln/>
        </p:spPr>
      </p:sp>
      <p:sp>
        <p:nvSpPr>
          <p:cNvPr id="47" name="Text 45"/>
          <p:cNvSpPr/>
          <p:nvPr/>
        </p:nvSpPr>
        <p:spPr>
          <a:xfrm>
            <a:off x="3712464" y="4837176"/>
            <a:ext cx="822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23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₹626.00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4809744" y="3063240"/>
            <a:ext cx="2596896" cy="2468880"/>
          </a:xfrm>
          <a:prstGeom prst="roundRect">
            <a:avLst>
              <a:gd name="adj" fmla="val 1481"/>
            </a:avLst>
          </a:prstGeom>
          <a:solidFill>
            <a:srgbClr val="FFFFFF"/>
          </a:solidFill>
          <a:ln w="9525">
            <a:solidFill>
              <a:srgbClr val="E4E3E5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956048" y="3172968"/>
            <a:ext cx="23225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3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Summary</a:t>
            </a:r>
            <a:endParaRPr lang="en-US" sz="800" dirty="0"/>
          </a:p>
        </p:txBody>
      </p:sp>
      <p:sp>
        <p:nvSpPr>
          <p:cNvPr id="50" name="Text 48"/>
          <p:cNvSpPr/>
          <p:nvPr/>
        </p:nvSpPr>
        <p:spPr>
          <a:xfrm>
            <a:off x="4956048" y="3447288"/>
            <a:ext cx="1298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Subtotal</a:t>
            </a:r>
            <a:endParaRPr lang="en-US" sz="700" dirty="0"/>
          </a:p>
        </p:txBody>
      </p:sp>
      <p:sp>
        <p:nvSpPr>
          <p:cNvPr id="51" name="Text 49"/>
          <p:cNvSpPr/>
          <p:nvPr/>
        </p:nvSpPr>
        <p:spPr>
          <a:xfrm>
            <a:off x="5978347" y="3447288"/>
            <a:ext cx="1298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23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₹8,303.34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4956048" y="3703320"/>
            <a:ext cx="1298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Shipping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5978347" y="3703320"/>
            <a:ext cx="1298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23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₹349.00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4956048" y="3959352"/>
            <a:ext cx="1298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666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Tax</a:t>
            </a:r>
            <a:endParaRPr lang="en-US" sz="700" dirty="0"/>
          </a:p>
        </p:txBody>
      </p:sp>
      <p:sp>
        <p:nvSpPr>
          <p:cNvPr id="55" name="Text 53"/>
          <p:cNvSpPr/>
          <p:nvPr/>
        </p:nvSpPr>
        <p:spPr>
          <a:xfrm>
            <a:off x="5978347" y="3959352"/>
            <a:ext cx="1298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23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₹1,494.60</a:t>
            </a:r>
            <a:endParaRPr lang="en-US" sz="700" dirty="0"/>
          </a:p>
        </p:txBody>
      </p:sp>
      <p:sp>
        <p:nvSpPr>
          <p:cNvPr id="56" name="Text 54"/>
          <p:cNvSpPr/>
          <p:nvPr/>
        </p:nvSpPr>
        <p:spPr>
          <a:xfrm>
            <a:off x="4956048" y="4215384"/>
            <a:ext cx="1298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23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700" dirty="0"/>
          </a:p>
        </p:txBody>
      </p:sp>
      <p:sp>
        <p:nvSpPr>
          <p:cNvPr id="57" name="Text 55"/>
          <p:cNvSpPr/>
          <p:nvPr/>
        </p:nvSpPr>
        <p:spPr>
          <a:xfrm>
            <a:off x="5978347" y="4215384"/>
            <a:ext cx="129844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23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₹10,146.94</a:t>
            </a:r>
            <a:endParaRPr lang="en-US" sz="700" dirty="0"/>
          </a:p>
        </p:txBody>
      </p:sp>
      <p:sp>
        <p:nvSpPr>
          <p:cNvPr id="58" name="Shape 56"/>
          <p:cNvSpPr/>
          <p:nvPr/>
        </p:nvSpPr>
        <p:spPr>
          <a:xfrm>
            <a:off x="4956048" y="4663440"/>
            <a:ext cx="2304288" cy="237744"/>
          </a:xfrm>
          <a:prstGeom prst="roundRect">
            <a:avLst>
              <a:gd name="adj" fmla="val 15385"/>
            </a:avLst>
          </a:prstGeom>
          <a:solidFill>
            <a:srgbClr val="93386C"/>
          </a:solidFill>
          <a:ln/>
        </p:spPr>
      </p:sp>
      <p:sp>
        <p:nvSpPr>
          <p:cNvPr id="59" name="Text 57"/>
          <p:cNvSpPr/>
          <p:nvPr/>
        </p:nvSpPr>
        <p:spPr>
          <a:xfrm>
            <a:off x="4956048" y="4663440"/>
            <a:ext cx="230428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 Order</a:t>
            </a:r>
            <a:endParaRPr lang="en-US" sz="750" dirty="0"/>
          </a:p>
        </p:txBody>
      </p:sp>
      <p:sp>
        <p:nvSpPr>
          <p:cNvPr id="60" name="Text 58"/>
          <p:cNvSpPr/>
          <p:nvPr/>
        </p:nvSpPr>
        <p:spPr>
          <a:xfrm>
            <a:off x="4956048" y="5029200"/>
            <a:ext cx="23225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" dirty="0">
                <a:solidFill>
                  <a:srgbClr val="666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Secure checkout — SSL</a:t>
            </a:r>
            <a:endParaRPr lang="en-US" sz="580" dirty="0"/>
          </a:p>
        </p:txBody>
      </p:sp>
      <p:sp>
        <p:nvSpPr>
          <p:cNvPr id="61" name="Text 59"/>
          <p:cNvSpPr/>
          <p:nvPr/>
        </p:nvSpPr>
        <p:spPr>
          <a:xfrm>
            <a:off x="4956048" y="5212080"/>
            <a:ext cx="23225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80" dirty="0">
                <a:solidFill>
                  <a:srgbClr val="666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Volume pricing via RFQ</a:t>
            </a:r>
            <a:endParaRPr lang="en-US" sz="580" dirty="0"/>
          </a:p>
        </p:txBody>
      </p:sp>
      <p:sp>
        <p:nvSpPr>
          <p:cNvPr id="62" name="Text 60"/>
          <p:cNvSpPr/>
          <p:nvPr/>
        </p:nvSpPr>
        <p:spPr>
          <a:xfrm>
            <a:off x="7818120" y="155448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2322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Summary, Every Step</a:t>
            </a:r>
            <a:endParaRPr lang="en-US" sz="1600" dirty="0"/>
          </a:p>
        </p:txBody>
      </p:sp>
      <p:sp>
        <p:nvSpPr>
          <p:cNvPr id="63" name="Text 61"/>
          <p:cNvSpPr/>
          <p:nvPr/>
        </p:nvSpPr>
        <p:spPr>
          <a:xfrm>
            <a:off x="7818120" y="228600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338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64" name="Text 62"/>
          <p:cNvSpPr/>
          <p:nvPr/>
        </p:nvSpPr>
        <p:spPr>
          <a:xfrm>
            <a:off x="8055864" y="2286000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3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Summary stays visible across all four checkout steps</a:t>
            </a:r>
            <a:endParaRPr lang="en-US" sz="1100" dirty="0"/>
          </a:p>
        </p:txBody>
      </p:sp>
      <p:sp>
        <p:nvSpPr>
          <p:cNvPr id="65" name="Text 63"/>
          <p:cNvSpPr/>
          <p:nvPr/>
        </p:nvSpPr>
        <p:spPr>
          <a:xfrm>
            <a:off x="7818120" y="283464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338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66" name="Text 64"/>
          <p:cNvSpPr/>
          <p:nvPr/>
        </p:nvSpPr>
        <p:spPr>
          <a:xfrm>
            <a:off x="8055864" y="2834640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3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Shipping cost reads "Calculated at next step" until a method is chosen — never a guessed number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7818120" y="338328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338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68" name="Text 66"/>
          <p:cNvSpPr/>
          <p:nvPr/>
        </p:nvSpPr>
        <p:spPr>
          <a:xfrm>
            <a:off x="8055864" y="3383280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3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payment types including Purchase Order for enterprise buyers</a:t>
            </a:r>
            <a:endParaRPr lang="en-US" sz="1100" dirty="0"/>
          </a:p>
        </p:txBody>
      </p:sp>
      <p:sp>
        <p:nvSpPr>
          <p:cNvPr id="69" name="Text 67"/>
          <p:cNvSpPr/>
          <p:nvPr/>
        </p:nvSpPr>
        <p:spPr>
          <a:xfrm>
            <a:off x="7818120" y="393192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338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70" name="Text 68"/>
          <p:cNvSpPr/>
          <p:nvPr/>
        </p:nvSpPr>
        <p:spPr>
          <a:xfrm>
            <a:off x="8055864" y="3931920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3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Cart, RFQ-from-cart, and quantity updates are all instant — no reload flicker</a:t>
            </a:r>
            <a:endParaRPr lang="en-US" sz="1100" dirty="0"/>
          </a:p>
        </p:txBody>
      </p:sp>
      <p:sp>
        <p:nvSpPr>
          <p:cNvPr id="71" name="Text 69"/>
          <p:cNvSpPr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A6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338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BROWSE → CART → CHECKOUT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25"/>
              </a:lnSpc>
              <a:buNone/>
            </a:pPr>
            <a:r>
              <a:rPr lang="en-US" sz="2500" b="1" dirty="0">
                <a:solidFill>
                  <a:srgbClr val="2322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Engineering Workflows That Set This Apart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2606040" cy="384048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E4E3E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77824" y="2039112"/>
            <a:ext cx="566928" cy="566928"/>
          </a:xfrm>
          <a:prstGeom prst="ellipse">
            <a:avLst/>
          </a:prstGeom>
          <a:solidFill>
            <a:srgbClr val="F3E1EC"/>
          </a:solidFill>
          <a:ln/>
        </p:spPr>
      </p:sp>
      <p:sp>
        <p:nvSpPr>
          <p:cNvPr id="6" name="Text 4"/>
          <p:cNvSpPr/>
          <p:nvPr/>
        </p:nvSpPr>
        <p:spPr>
          <a:xfrm>
            <a:off x="877824" y="20391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60" b="1" dirty="0">
                <a:solidFill>
                  <a:srgbClr val="9338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860" dirty="0"/>
          </a:p>
        </p:txBody>
      </p:sp>
      <p:sp>
        <p:nvSpPr>
          <p:cNvPr id="7" name="Text 5"/>
          <p:cNvSpPr/>
          <p:nvPr/>
        </p:nvSpPr>
        <p:spPr>
          <a:xfrm>
            <a:off x="877824" y="278892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322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Engineering Search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77824" y="3566160"/>
            <a:ext cx="21488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66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"100V MOSFET, automotive, SMD, availability above 500" → structured criteria → ranked, explainable matches from the real catalog.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429000" y="1783080"/>
            <a:ext cx="2606040" cy="384048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E4E3E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66744" y="2039112"/>
            <a:ext cx="566928" cy="566928"/>
          </a:xfrm>
          <a:prstGeom prst="ellipse">
            <a:avLst/>
          </a:prstGeom>
          <a:solidFill>
            <a:srgbClr val="F3E1EC"/>
          </a:solidFill>
          <a:ln/>
        </p:spPr>
      </p:sp>
      <p:sp>
        <p:nvSpPr>
          <p:cNvPr id="11" name="Text 9"/>
          <p:cNvSpPr/>
          <p:nvPr/>
        </p:nvSpPr>
        <p:spPr>
          <a:xfrm>
            <a:off x="3666744" y="20391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60" b="1" dirty="0">
                <a:solidFill>
                  <a:srgbClr val="9338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BOM</a:t>
            </a:r>
            <a:endParaRPr lang="en-US" sz="1860" dirty="0"/>
          </a:p>
        </p:txBody>
      </p:sp>
      <p:sp>
        <p:nvSpPr>
          <p:cNvPr id="12" name="Text 10"/>
          <p:cNvSpPr/>
          <p:nvPr/>
        </p:nvSpPr>
        <p:spPr>
          <a:xfrm>
            <a:off x="3666744" y="278892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322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BOM → Matching → RFQ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3666744" y="3566160"/>
            <a:ext cx="21488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66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or paste a BOM; exact and alternative-part matches are found against live inventory; move matches straight into an RFQ.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217920" y="1783080"/>
            <a:ext cx="2606040" cy="384048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E4E3E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55664" y="2039112"/>
            <a:ext cx="566928" cy="566928"/>
          </a:xfrm>
          <a:prstGeom prst="ellipse">
            <a:avLst/>
          </a:prstGeom>
          <a:solidFill>
            <a:srgbClr val="F3E1EC"/>
          </a:solidFill>
          <a:ln/>
        </p:spPr>
      </p:sp>
      <p:sp>
        <p:nvSpPr>
          <p:cNvPr id="16" name="Text 14"/>
          <p:cNvSpPr/>
          <p:nvPr/>
        </p:nvSpPr>
        <p:spPr>
          <a:xfrm>
            <a:off x="6455664" y="20391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60" b="1" dirty="0">
                <a:solidFill>
                  <a:srgbClr val="9338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RFQ</a:t>
            </a:r>
            <a:endParaRPr lang="en-US" sz="1860" dirty="0"/>
          </a:p>
        </p:txBody>
      </p:sp>
      <p:sp>
        <p:nvSpPr>
          <p:cNvPr id="17" name="Text 15"/>
          <p:cNvSpPr/>
          <p:nvPr/>
        </p:nvSpPr>
        <p:spPr>
          <a:xfrm>
            <a:off x="6455664" y="278892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322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RFQ &amp; Governed Pricing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6455664" y="3566160"/>
            <a:ext cx="21488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66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→ Volume → Supplier → Contract pricing steps, shown transparently on every quote — not a black-box discount.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9006840" y="1783080"/>
            <a:ext cx="2606040" cy="384048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E4E3E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244584" y="2039112"/>
            <a:ext cx="566928" cy="566928"/>
          </a:xfrm>
          <a:prstGeom prst="ellipse">
            <a:avLst/>
          </a:prstGeom>
          <a:solidFill>
            <a:srgbClr val="F3E1EC"/>
          </a:solidFill>
          <a:ln/>
        </p:spPr>
      </p:sp>
      <p:sp>
        <p:nvSpPr>
          <p:cNvPr id="21" name="Text 19"/>
          <p:cNvSpPr/>
          <p:nvPr/>
        </p:nvSpPr>
        <p:spPr>
          <a:xfrm>
            <a:off x="9244584" y="20391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60" b="1" dirty="0">
                <a:solidFill>
                  <a:srgbClr val="9338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</a:t>
            </a:r>
            <a:endParaRPr lang="en-US" sz="1860" dirty="0"/>
          </a:p>
        </p:txBody>
      </p:sp>
      <p:sp>
        <p:nvSpPr>
          <p:cNvPr id="22" name="Text 20"/>
          <p:cNvSpPr/>
          <p:nvPr/>
        </p:nvSpPr>
        <p:spPr>
          <a:xfrm>
            <a:off x="9244584" y="278892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2322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Design Request</a:t>
            </a:r>
            <a:endParaRPr lang="en-US" sz="1450" dirty="0"/>
          </a:p>
        </p:txBody>
      </p:sp>
      <p:sp>
        <p:nvSpPr>
          <p:cNvPr id="23" name="Text 21"/>
          <p:cNvSpPr/>
          <p:nvPr/>
        </p:nvSpPr>
        <p:spPr>
          <a:xfrm>
            <a:off x="9244584" y="3566160"/>
            <a:ext cx="21488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666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structured engineering brief (application, requirement, quantity, target cost, BOM) — not a generic "contact us" form.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A6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3222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296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AI, APPLIED — NOT DECORATIVE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25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Solves a Real Search Problem, Explainably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5212080" cy="4114800"/>
          </a:xfrm>
          <a:prstGeom prst="roundRect">
            <a:avLst>
              <a:gd name="adj" fmla="val 1333"/>
            </a:avLst>
          </a:prstGeom>
          <a:solidFill>
            <a:srgbClr val="38373A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96596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7A6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 types: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914400" y="2240280"/>
            <a:ext cx="4663440" cy="777240"/>
          </a:xfrm>
          <a:prstGeom prst="roundRect">
            <a:avLst>
              <a:gd name="adj" fmla="val 5882"/>
            </a:avLst>
          </a:prstGeom>
          <a:solidFill>
            <a:srgbClr val="232226"/>
          </a:solidFill>
          <a:ln w="12700">
            <a:solidFill>
              <a:srgbClr val="4E4D5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51560" y="2331720"/>
            <a:ext cx="4389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"Find a 100V MOSFET suitable for automotive</a:t>
            </a:r>
            <a:endParaRPr lang="en-US" sz="10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5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applications, SMD package, availability above 500"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914400" y="312724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7A6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 parsed into structured, filterable criteria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914400" y="3429000"/>
            <a:ext cx="4663440" cy="329184"/>
          </a:xfrm>
          <a:prstGeom prst="roundRect">
            <a:avLst>
              <a:gd name="adj" fmla="val 50000"/>
            </a:avLst>
          </a:prstGeom>
          <a:solidFill>
            <a:srgbClr val="602347"/>
          </a:solidFill>
          <a:ln/>
        </p:spPr>
      </p:sp>
      <p:sp>
        <p:nvSpPr>
          <p:cNvPr id="10" name="Text 8"/>
          <p:cNvSpPr/>
          <p:nvPr/>
        </p:nvSpPr>
        <p:spPr>
          <a:xfrm>
            <a:off x="1143000" y="3429000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Technology: automotive-grade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914400" y="3831336"/>
            <a:ext cx="4663440" cy="329184"/>
          </a:xfrm>
          <a:prstGeom prst="roundRect">
            <a:avLst>
              <a:gd name="adj" fmla="val 50000"/>
            </a:avLst>
          </a:prstGeom>
          <a:solidFill>
            <a:srgbClr val="602347"/>
          </a:solidFill>
          <a:ln/>
        </p:spPr>
      </p:sp>
      <p:sp>
        <p:nvSpPr>
          <p:cNvPr id="12" name="Text 10"/>
          <p:cNvSpPr/>
          <p:nvPr/>
        </p:nvSpPr>
        <p:spPr>
          <a:xfrm>
            <a:off x="1143000" y="3831336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Mounting: SMD/SMT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914400" y="4233672"/>
            <a:ext cx="4663440" cy="329184"/>
          </a:xfrm>
          <a:prstGeom prst="roundRect">
            <a:avLst>
              <a:gd name="adj" fmla="val 50000"/>
            </a:avLst>
          </a:prstGeom>
          <a:solidFill>
            <a:srgbClr val="602347"/>
          </a:solidFill>
          <a:ln/>
        </p:spPr>
      </p:sp>
      <p:sp>
        <p:nvSpPr>
          <p:cNvPr id="14" name="Text 12"/>
          <p:cNvSpPr/>
          <p:nvPr/>
        </p:nvSpPr>
        <p:spPr>
          <a:xfrm>
            <a:off x="1143000" y="4233672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Availability ≥ 500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914400" y="4636008"/>
            <a:ext cx="4663440" cy="329184"/>
          </a:xfrm>
          <a:prstGeom prst="roundRect">
            <a:avLst>
              <a:gd name="adj" fmla="val 50000"/>
            </a:avLst>
          </a:prstGeom>
          <a:solidFill>
            <a:srgbClr val="602347"/>
          </a:solidFill>
          <a:ln/>
        </p:spPr>
      </p:sp>
      <p:sp>
        <p:nvSpPr>
          <p:cNvPr id="16" name="Text 14"/>
          <p:cNvSpPr/>
          <p:nvPr/>
        </p:nvSpPr>
        <p:spPr>
          <a:xfrm>
            <a:off x="1143000" y="4636008"/>
            <a:ext cx="4114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Ranked by relevance + stock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914400" y="5166360"/>
            <a:ext cx="4663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900" i="1" dirty="0">
                <a:solidFill>
                  <a:srgbClr val="D296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query mentions something the catalog has no field for (a voltage rating, RDS(on)) that gap is stated openly — never silently ignored or invented.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263640" y="17830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this matters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6263640" y="2194560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D296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6483096" y="2194560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4E3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match is explainable — the buyer sees exactly which criteria drove the result set.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6263640" y="3035808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D296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6483096" y="3035808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4E3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logic lives behind a service function, never hardcoded in a screen — a real LLM/NLU endpoint can replace it with zero UI change.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263640" y="3877056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D296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6483096" y="3877056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4E3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discipline applies to BOM matching, alternative-part suggestion, and the pricing engine.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6263640" y="4718304"/>
            <a:ext cx="182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D296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6483096" y="4718304"/>
            <a:ext cx="4846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4E3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floating assistant is mounted globally as a persistent entry point — not a bolt-on chat bubble on one page.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338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SUPPLIER CONSOLE &amp; GOVERNANCE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520"/>
              </a:lnSpc>
              <a:buNone/>
            </a:pPr>
            <a:r>
              <a:rPr lang="en-US" sz="2400" b="1" dirty="0">
                <a:solidFill>
                  <a:srgbClr val="2322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Maker-Checker Governance, Built Into Publishing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enterprise console for suppliers/admins — the Maker never certifies its own release; every product moves through independent stages before it reaches buyers.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1691640" cy="77724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5875">
            <a:solidFill>
              <a:srgbClr val="E4E3E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214884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3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2331720" y="2148840"/>
            <a:ext cx="1645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7A6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496312" y="2148840"/>
            <a:ext cx="1691640" cy="77724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5875">
            <a:solidFill>
              <a:srgbClr val="E4E3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96312" y="214884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3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187952" y="2148840"/>
            <a:ext cx="1645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7A6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352544" y="2148840"/>
            <a:ext cx="1691640" cy="77724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5875">
            <a:solidFill>
              <a:srgbClr val="E4E3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52544" y="214884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3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Maker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23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044184" y="2148840"/>
            <a:ext cx="1645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7A6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208776" y="2148840"/>
            <a:ext cx="1691640" cy="77724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5875">
            <a:solidFill>
              <a:srgbClr val="E4E3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08776" y="214884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3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Checker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23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Validated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7900416" y="2148840"/>
            <a:ext cx="1645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7A6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8065008" y="2148840"/>
            <a:ext cx="1691640" cy="77724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 w="15875">
            <a:solidFill>
              <a:srgbClr val="E4E3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065008" y="214884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3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23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9756648" y="2148840"/>
            <a:ext cx="16459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A7A6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9921240" y="2148840"/>
            <a:ext cx="1691640" cy="777240"/>
          </a:xfrm>
          <a:prstGeom prst="roundRect">
            <a:avLst>
              <a:gd name="adj" fmla="val 5882"/>
            </a:avLst>
          </a:prstGeom>
          <a:solidFill>
            <a:srgbClr val="93386C"/>
          </a:solidFill>
          <a:ln w="15875">
            <a:solidFill>
              <a:srgbClr val="93386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921240" y="214884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640080" y="32461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22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Supplier / Admin Console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640080" y="3611880"/>
            <a:ext cx="5760720" cy="2834640"/>
          </a:xfrm>
          <a:prstGeom prst="roundRect">
            <a:avLst>
              <a:gd name="adj" fmla="val 1613"/>
            </a:avLst>
          </a:prstGeom>
          <a:solidFill>
            <a:srgbClr val="FFFFFF"/>
          </a:solidFill>
          <a:ln w="12700">
            <a:solidFill>
              <a:srgbClr val="E4E3E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0080" y="3611880"/>
            <a:ext cx="1371600" cy="2834640"/>
          </a:xfrm>
          <a:prstGeom prst="rect">
            <a:avLst/>
          </a:prstGeom>
          <a:solidFill>
            <a:srgbClr val="232226"/>
          </a:solidFill>
          <a:ln/>
        </p:spPr>
      </p:sp>
      <p:sp>
        <p:nvSpPr>
          <p:cNvPr id="25" name="Text 23"/>
          <p:cNvSpPr/>
          <p:nvPr/>
        </p:nvSpPr>
        <p:spPr>
          <a:xfrm>
            <a:off x="777240" y="3776472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7C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777240" y="4087368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777240" y="4398264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7C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</a:t>
            </a:r>
            <a:endParaRPr lang="en-US" sz="700" dirty="0"/>
          </a:p>
        </p:txBody>
      </p:sp>
      <p:sp>
        <p:nvSpPr>
          <p:cNvPr id="28" name="Text 26"/>
          <p:cNvSpPr/>
          <p:nvPr/>
        </p:nvSpPr>
        <p:spPr>
          <a:xfrm>
            <a:off x="777240" y="4709160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7C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Categories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777240" y="5020056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7C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Manufacturers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777240" y="5330952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7C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777240" y="5641848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7C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Orders</a:t>
            </a:r>
            <a:endParaRPr lang="en-US" sz="700" dirty="0"/>
          </a:p>
        </p:txBody>
      </p:sp>
      <p:sp>
        <p:nvSpPr>
          <p:cNvPr id="32" name="Text 30"/>
          <p:cNvSpPr/>
          <p:nvPr/>
        </p:nvSpPr>
        <p:spPr>
          <a:xfrm>
            <a:off x="777240" y="5952744"/>
            <a:ext cx="1143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00" dirty="0">
                <a:solidFill>
                  <a:srgbClr val="C7C6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2194560" y="3840480"/>
            <a:ext cx="3931920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E4E3E5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331720" y="3959352"/>
            <a:ext cx="1463040" cy="82296"/>
          </a:xfrm>
          <a:prstGeom prst="rect">
            <a:avLst/>
          </a:prstGeom>
          <a:solidFill>
            <a:srgbClr val="D8D7D9"/>
          </a:solidFill>
          <a:ln/>
        </p:spPr>
      </p:sp>
      <p:sp>
        <p:nvSpPr>
          <p:cNvPr id="35" name="Shape 33"/>
          <p:cNvSpPr/>
          <p:nvPr/>
        </p:nvSpPr>
        <p:spPr>
          <a:xfrm>
            <a:off x="4572000" y="3922776"/>
            <a:ext cx="1600200" cy="219456"/>
          </a:xfrm>
          <a:prstGeom prst="roundRect">
            <a:avLst>
              <a:gd name="adj" fmla="val 50000"/>
            </a:avLst>
          </a:prstGeom>
          <a:solidFill>
            <a:srgbClr val="F3E1EC"/>
          </a:solidFill>
          <a:ln/>
        </p:spPr>
      </p:sp>
      <p:sp>
        <p:nvSpPr>
          <p:cNvPr id="36" name="Text 34"/>
          <p:cNvSpPr/>
          <p:nvPr/>
        </p:nvSpPr>
        <p:spPr>
          <a:xfrm>
            <a:off x="4572000" y="3922776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602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Checker Validated</a:t>
            </a:r>
            <a:endParaRPr lang="en-US" sz="600" dirty="0"/>
          </a:p>
        </p:txBody>
      </p:sp>
      <p:sp>
        <p:nvSpPr>
          <p:cNvPr id="37" name="Shape 35"/>
          <p:cNvSpPr/>
          <p:nvPr/>
        </p:nvSpPr>
        <p:spPr>
          <a:xfrm>
            <a:off x="2194560" y="4343400"/>
            <a:ext cx="3931920" cy="384048"/>
          </a:xfrm>
          <a:prstGeom prst="rect">
            <a:avLst/>
          </a:prstGeom>
          <a:solidFill>
            <a:srgbClr val="F6F5F6"/>
          </a:solidFill>
          <a:ln w="3175">
            <a:solidFill>
              <a:srgbClr val="E4E3E5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331720" y="4462272"/>
            <a:ext cx="1463040" cy="82296"/>
          </a:xfrm>
          <a:prstGeom prst="rect">
            <a:avLst/>
          </a:prstGeom>
          <a:solidFill>
            <a:srgbClr val="D8D7D9"/>
          </a:solidFill>
          <a:ln/>
        </p:spPr>
      </p:sp>
      <p:sp>
        <p:nvSpPr>
          <p:cNvPr id="39" name="Shape 37"/>
          <p:cNvSpPr/>
          <p:nvPr/>
        </p:nvSpPr>
        <p:spPr>
          <a:xfrm>
            <a:off x="4572000" y="4425696"/>
            <a:ext cx="1600200" cy="219456"/>
          </a:xfrm>
          <a:prstGeom prst="roundRect">
            <a:avLst>
              <a:gd name="adj" fmla="val 50000"/>
            </a:avLst>
          </a:prstGeom>
          <a:solidFill>
            <a:srgbClr val="F3E1EC"/>
          </a:solidFill>
          <a:ln/>
        </p:spPr>
      </p:sp>
      <p:sp>
        <p:nvSpPr>
          <p:cNvPr id="40" name="Text 38"/>
          <p:cNvSpPr/>
          <p:nvPr/>
        </p:nvSpPr>
        <p:spPr>
          <a:xfrm>
            <a:off x="4572000" y="4425696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602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Maker Validated</a:t>
            </a:r>
            <a:endParaRPr lang="en-US" sz="600" dirty="0"/>
          </a:p>
        </p:txBody>
      </p:sp>
      <p:sp>
        <p:nvSpPr>
          <p:cNvPr id="41" name="Shape 39"/>
          <p:cNvSpPr/>
          <p:nvPr/>
        </p:nvSpPr>
        <p:spPr>
          <a:xfrm>
            <a:off x="2194560" y="4846320"/>
            <a:ext cx="3931920" cy="384048"/>
          </a:xfrm>
          <a:prstGeom prst="rect">
            <a:avLst/>
          </a:prstGeom>
          <a:solidFill>
            <a:srgbClr val="FFFFFF"/>
          </a:solidFill>
          <a:ln w="3175">
            <a:solidFill>
              <a:srgbClr val="E4E3E5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331720" y="4965192"/>
            <a:ext cx="1463040" cy="82296"/>
          </a:xfrm>
          <a:prstGeom prst="rect">
            <a:avLst/>
          </a:prstGeom>
          <a:solidFill>
            <a:srgbClr val="D8D7D9"/>
          </a:solidFill>
          <a:ln/>
        </p:spPr>
      </p:sp>
      <p:sp>
        <p:nvSpPr>
          <p:cNvPr id="43" name="Shape 41"/>
          <p:cNvSpPr/>
          <p:nvPr/>
        </p:nvSpPr>
        <p:spPr>
          <a:xfrm>
            <a:off x="4572000" y="4928616"/>
            <a:ext cx="1600200" cy="219456"/>
          </a:xfrm>
          <a:prstGeom prst="roundRect">
            <a:avLst>
              <a:gd name="adj" fmla="val 50000"/>
            </a:avLst>
          </a:prstGeom>
          <a:solidFill>
            <a:srgbClr val="F3E1EC"/>
          </a:solidFill>
          <a:ln/>
        </p:spPr>
      </p:sp>
      <p:sp>
        <p:nvSpPr>
          <p:cNvPr id="44" name="Text 42"/>
          <p:cNvSpPr/>
          <p:nvPr/>
        </p:nvSpPr>
        <p:spPr>
          <a:xfrm>
            <a:off x="4572000" y="4928616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602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</a:t>
            </a:r>
            <a:endParaRPr lang="en-US" sz="600" dirty="0"/>
          </a:p>
        </p:txBody>
      </p:sp>
      <p:sp>
        <p:nvSpPr>
          <p:cNvPr id="45" name="Shape 43"/>
          <p:cNvSpPr/>
          <p:nvPr/>
        </p:nvSpPr>
        <p:spPr>
          <a:xfrm>
            <a:off x="2194560" y="5349240"/>
            <a:ext cx="3931920" cy="384048"/>
          </a:xfrm>
          <a:prstGeom prst="rect">
            <a:avLst/>
          </a:prstGeom>
          <a:solidFill>
            <a:srgbClr val="F6F5F6"/>
          </a:solidFill>
          <a:ln w="3175">
            <a:solidFill>
              <a:srgbClr val="E4E3E5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331720" y="5468112"/>
            <a:ext cx="1463040" cy="82296"/>
          </a:xfrm>
          <a:prstGeom prst="rect">
            <a:avLst/>
          </a:prstGeom>
          <a:solidFill>
            <a:srgbClr val="D8D7D9"/>
          </a:solidFill>
          <a:ln/>
        </p:spPr>
      </p:sp>
      <p:sp>
        <p:nvSpPr>
          <p:cNvPr id="47" name="Shape 45"/>
          <p:cNvSpPr/>
          <p:nvPr/>
        </p:nvSpPr>
        <p:spPr>
          <a:xfrm>
            <a:off x="4572000" y="5431536"/>
            <a:ext cx="1600200" cy="219456"/>
          </a:xfrm>
          <a:prstGeom prst="roundRect">
            <a:avLst>
              <a:gd name="adj" fmla="val 50000"/>
            </a:avLst>
          </a:prstGeom>
          <a:solidFill>
            <a:srgbClr val="F3E1EC"/>
          </a:solidFill>
          <a:ln/>
        </p:spPr>
      </p:sp>
      <p:sp>
        <p:nvSpPr>
          <p:cNvPr id="48" name="Text 46"/>
          <p:cNvSpPr/>
          <p:nvPr/>
        </p:nvSpPr>
        <p:spPr>
          <a:xfrm>
            <a:off x="4572000" y="5431536"/>
            <a:ext cx="1600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00" b="1" dirty="0">
                <a:solidFill>
                  <a:srgbClr val="60234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Submitted</a:t>
            </a:r>
            <a:endParaRPr lang="en-US" sz="600" dirty="0"/>
          </a:p>
        </p:txBody>
      </p:sp>
      <p:sp>
        <p:nvSpPr>
          <p:cNvPr id="49" name="Text 47"/>
          <p:cNvSpPr/>
          <p:nvPr/>
        </p:nvSpPr>
        <p:spPr>
          <a:xfrm>
            <a:off x="6720840" y="324612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322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Console coverage</a:t>
            </a:r>
            <a:endParaRPr lang="en-US" sz="1400" dirty="0"/>
          </a:p>
        </p:txBody>
      </p:sp>
      <p:sp>
        <p:nvSpPr>
          <p:cNvPr id="50" name="Text 48"/>
          <p:cNvSpPr/>
          <p:nvPr/>
        </p:nvSpPr>
        <p:spPr>
          <a:xfrm>
            <a:off x="6720840" y="3611880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338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6958584" y="3611880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3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create / edit / preview-before-publish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6720840" y="3995928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338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6958584" y="3995928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3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Inventory, categories, manufacturers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6720840" y="4379976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338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6958584" y="4379976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3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&amp; order management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6720840" y="4764024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338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57" name="Text 55"/>
          <p:cNvSpPr/>
          <p:nvPr/>
        </p:nvSpPr>
        <p:spPr>
          <a:xfrm>
            <a:off x="6958584" y="4764024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3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dashboard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6720840" y="5148072"/>
            <a:ext cx="2194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338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59" name="Text 57"/>
          <p:cNvSpPr/>
          <p:nvPr/>
        </p:nvSpPr>
        <p:spPr>
          <a:xfrm>
            <a:off x="6958584" y="5148072"/>
            <a:ext cx="3886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23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state on every product record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6720840" y="5669280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00" i="1" dirty="0">
                <a:solidFill>
                  <a:srgbClr val="666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Maker builds and submits; the Checker independently validates; final Go/No-Go remains a Millennium Digital business decision — this sequencing is enforced in the data model, not just described in a policy doc.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A6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93386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TRANSPARENCY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6868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625"/>
              </a:lnSpc>
              <a:buNone/>
            </a:pPr>
            <a:r>
              <a:rPr lang="en-US" sz="2500" b="1" dirty="0">
                <a:solidFill>
                  <a:srgbClr val="23222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What’s Live Today vs. Target Production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665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simulated capability is labeled in-code as prototype/demo. This is the same distinction stated there, consolidated for review.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3291840" cy="365760"/>
          </a:xfrm>
          <a:prstGeom prst="rect">
            <a:avLst/>
          </a:prstGeom>
          <a:solidFill>
            <a:srgbClr val="93386C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96596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Capability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931920" y="1965960"/>
            <a:ext cx="3520440" cy="365760"/>
          </a:xfrm>
          <a:prstGeom prst="rect">
            <a:avLst/>
          </a:prstGeom>
          <a:solidFill>
            <a:srgbClr val="93386C"/>
          </a:solidFill>
          <a:ln/>
        </p:spPr>
      </p:sp>
      <p:sp>
        <p:nvSpPr>
          <p:cNvPr id="8" name="Text 6"/>
          <p:cNvSpPr/>
          <p:nvPr/>
        </p:nvSpPr>
        <p:spPr>
          <a:xfrm>
            <a:off x="4041648" y="1965960"/>
            <a:ext cx="3337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Today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452360" y="1965960"/>
            <a:ext cx="4069080" cy="365760"/>
          </a:xfrm>
          <a:prstGeom prst="rect">
            <a:avLst/>
          </a:prstGeom>
          <a:solidFill>
            <a:srgbClr val="93386C"/>
          </a:solidFill>
          <a:ln/>
        </p:spPr>
      </p:sp>
      <p:sp>
        <p:nvSpPr>
          <p:cNvPr id="10" name="Text 8"/>
          <p:cNvSpPr/>
          <p:nvPr/>
        </p:nvSpPr>
        <p:spPr>
          <a:xfrm>
            <a:off x="7562088" y="196596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Target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40080" y="2331720"/>
            <a:ext cx="329184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4E3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49808" y="2331720"/>
            <a:ext cx="30723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3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Catalog, search &amp; filtering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931920" y="2331720"/>
            <a:ext cx="352044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4E3E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041648" y="2331720"/>
            <a:ext cx="33009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— real 138-part dataset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452360" y="2331720"/>
            <a:ext cx="406908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4E3E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562088" y="2331720"/>
            <a:ext cx="38496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3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model, backed by a live product service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40080" y="2734056"/>
            <a:ext cx="3291840" cy="402336"/>
          </a:xfrm>
          <a:prstGeom prst="rect">
            <a:avLst/>
          </a:prstGeom>
          <a:solidFill>
            <a:srgbClr val="FAFAFA"/>
          </a:solidFill>
          <a:ln w="6350">
            <a:solidFill>
              <a:srgbClr val="E4E3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49808" y="2734056"/>
            <a:ext cx="30723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3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Engineering Search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931920" y="2734056"/>
            <a:ext cx="3520440" cy="402336"/>
          </a:xfrm>
          <a:prstGeom prst="rect">
            <a:avLst/>
          </a:prstGeom>
          <a:solidFill>
            <a:srgbClr val="FAFAFA"/>
          </a:solidFill>
          <a:ln w="6350">
            <a:solidFill>
              <a:srgbClr val="E4E3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041648" y="2734056"/>
            <a:ext cx="33009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Mocked — rule-based parser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7452360" y="2734056"/>
            <a:ext cx="4069080" cy="402336"/>
          </a:xfrm>
          <a:prstGeom prst="rect">
            <a:avLst/>
          </a:prstGeom>
          <a:solidFill>
            <a:srgbClr val="FAFAFA"/>
          </a:solidFill>
          <a:ln w="6350">
            <a:solidFill>
              <a:srgbClr val="E4E3E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562088" y="2734056"/>
            <a:ext cx="38496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3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LLM/NLU endpoint, same interface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640080" y="3136392"/>
            <a:ext cx="329184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4E3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49808" y="3136392"/>
            <a:ext cx="30723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3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BOM matching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931920" y="3136392"/>
            <a:ext cx="352044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4E3E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041648" y="3136392"/>
            <a:ext cx="33009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Mocked — exact + fuzzy match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7452360" y="3136392"/>
            <a:ext cx="406908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4E3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562088" y="3136392"/>
            <a:ext cx="38496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3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CSV/XLSX ingestion + matching API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40080" y="3538728"/>
            <a:ext cx="3291840" cy="402336"/>
          </a:xfrm>
          <a:prstGeom prst="rect">
            <a:avLst/>
          </a:prstGeom>
          <a:solidFill>
            <a:srgbClr val="FAFAFA"/>
          </a:solidFill>
          <a:ln w="6350">
            <a:solidFill>
              <a:srgbClr val="E4E3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49808" y="3538728"/>
            <a:ext cx="30723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3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governance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3931920" y="3538728"/>
            <a:ext cx="3520440" cy="402336"/>
          </a:xfrm>
          <a:prstGeom prst="rect">
            <a:avLst/>
          </a:prstGeom>
          <a:solidFill>
            <a:srgbClr val="FAFAFA"/>
          </a:solidFill>
          <a:ln w="6350">
            <a:solidFill>
              <a:srgbClr val="E4E3E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041648" y="3538728"/>
            <a:ext cx="33009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Mocked — illustrative rate rules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7452360" y="3538728"/>
            <a:ext cx="4069080" cy="402336"/>
          </a:xfrm>
          <a:prstGeom prst="rect">
            <a:avLst/>
          </a:prstGeom>
          <a:solidFill>
            <a:srgbClr val="FAFAFA"/>
          </a:solidFill>
          <a:ln w="6350">
            <a:solidFill>
              <a:srgbClr val="E4E3E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562088" y="3538728"/>
            <a:ext cx="38496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3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pricing engine / ERP contract tables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640080" y="3941064"/>
            <a:ext cx="329184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4E3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49808" y="3941064"/>
            <a:ext cx="30723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3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/ stock sync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931920" y="3941064"/>
            <a:ext cx="352044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4E3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041648" y="3941064"/>
            <a:ext cx="33009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Static per record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7452360" y="3941064"/>
            <a:ext cx="406908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4E3E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562088" y="3941064"/>
            <a:ext cx="38496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3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ERP↔Web sync (target: &lt;5 min)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40080" y="4343400"/>
            <a:ext cx="3291840" cy="402336"/>
          </a:xfrm>
          <a:prstGeom prst="rect">
            <a:avLst/>
          </a:prstGeom>
          <a:solidFill>
            <a:srgbClr val="FAFAFA"/>
          </a:solidFill>
          <a:ln w="6350">
            <a:solidFill>
              <a:srgbClr val="E4E3E5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49808" y="4343400"/>
            <a:ext cx="30723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3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logistics tracking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3931920" y="4343400"/>
            <a:ext cx="3520440" cy="402336"/>
          </a:xfrm>
          <a:prstGeom prst="rect">
            <a:avLst/>
          </a:prstGeom>
          <a:solidFill>
            <a:srgbClr val="FAFAFA"/>
          </a:solidFill>
          <a:ln w="6350">
            <a:solidFill>
              <a:srgbClr val="E4E3E5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041648" y="4343400"/>
            <a:ext cx="33009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Simulated timeline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7452360" y="4343400"/>
            <a:ext cx="4069080" cy="402336"/>
          </a:xfrm>
          <a:prstGeom prst="rect">
            <a:avLst/>
          </a:prstGeom>
          <a:solidFill>
            <a:srgbClr val="FAFAFA"/>
          </a:solidFill>
          <a:ln w="6350">
            <a:solidFill>
              <a:srgbClr val="E4E3E5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7562088" y="4343400"/>
            <a:ext cx="38496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3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carrier/logistics API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640080" y="4745736"/>
            <a:ext cx="329184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4E3E5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49808" y="4745736"/>
            <a:ext cx="30723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3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Maker-Checker governance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3931920" y="4745736"/>
            <a:ext cx="352044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4E3E5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041648" y="4745736"/>
            <a:ext cx="330098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B779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state machine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7452360" y="4745736"/>
            <a:ext cx="4069080" cy="402336"/>
          </a:xfrm>
          <a:prstGeom prst="rect">
            <a:avLst/>
          </a:prstGeom>
          <a:solidFill>
            <a:srgbClr val="FFFFFF"/>
          </a:solidFill>
          <a:ln w="6350">
            <a:solidFill>
              <a:srgbClr val="E4E3E5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562088" y="4745736"/>
            <a:ext cx="384962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23222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Multi-user roles, audit-logged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11430000" y="647395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7A6A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3A15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-1828800"/>
            <a:ext cx="5486400" cy="5486400"/>
          </a:xfrm>
          <a:prstGeom prst="ellipse">
            <a:avLst/>
          </a:prstGeom>
          <a:solidFill>
            <a:srgbClr val="602347">
              <a:alpha val="5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9436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D296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THIS LEAVES US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1005840"/>
            <a:ext cx="10789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Credible Foundation for the Real Platform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5257800" cy="1051560"/>
          </a:xfrm>
          <a:prstGeom prst="roundRect">
            <a:avLst>
              <a:gd name="adj" fmla="val 5217"/>
            </a:avLst>
          </a:prstGeom>
          <a:solidFill>
            <a:srgbClr val="602347">
              <a:alpha val="8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841248" y="2377440"/>
            <a:ext cx="365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296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234440" y="2286000"/>
            <a:ext cx="4434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Understands electronics commerce — real data, real workflows, no invented specs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172200" y="2286000"/>
            <a:ext cx="5257800" cy="1051560"/>
          </a:xfrm>
          <a:prstGeom prst="roundRect">
            <a:avLst>
              <a:gd name="adj" fmla="val 5217"/>
            </a:avLst>
          </a:prstGeom>
          <a:solidFill>
            <a:srgbClr val="602347">
              <a:alpha val="8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6373368" y="2377440"/>
            <a:ext cx="365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296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766560" y="2286000"/>
            <a:ext cx="4434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Understands B2B procurement — RFQ, governed pricing, purchase orders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3520440"/>
            <a:ext cx="5257800" cy="1051560"/>
          </a:xfrm>
          <a:prstGeom prst="roundRect">
            <a:avLst>
              <a:gd name="adj" fmla="val 5217"/>
            </a:avLst>
          </a:prstGeom>
          <a:solidFill>
            <a:srgbClr val="602347">
              <a:alpha val="80000"/>
            </a:srgbClr>
          </a:solidFill>
          <a:ln/>
        </p:spPr>
      </p:sp>
      <p:sp>
        <p:nvSpPr>
          <p:cNvPr id="12" name="Text 10"/>
          <p:cNvSpPr/>
          <p:nvPr/>
        </p:nvSpPr>
        <p:spPr>
          <a:xfrm>
            <a:off x="841248" y="3611880"/>
            <a:ext cx="365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296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234440" y="3520440"/>
            <a:ext cx="4434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Understands engineers — parametric search, datasheets, spec tables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172200" y="3520440"/>
            <a:ext cx="5257800" cy="1051560"/>
          </a:xfrm>
          <a:prstGeom prst="roundRect">
            <a:avLst>
              <a:gd name="adj" fmla="val 5217"/>
            </a:avLst>
          </a:prstGeom>
          <a:solidFill>
            <a:srgbClr val="602347">
              <a:alpha val="8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6373368" y="3611880"/>
            <a:ext cx="365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296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766560" y="3520440"/>
            <a:ext cx="4434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Understands governance — Maker-Checker enforced in the data model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4754880"/>
            <a:ext cx="5257800" cy="1051560"/>
          </a:xfrm>
          <a:prstGeom prst="roundRect">
            <a:avLst>
              <a:gd name="adj" fmla="val 5217"/>
            </a:avLst>
          </a:prstGeom>
          <a:solidFill>
            <a:srgbClr val="602347">
              <a:alpha val="8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841248" y="4846320"/>
            <a:ext cx="365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296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234440" y="4754880"/>
            <a:ext cx="4434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execute — 62 working screens on one codebase across 5 platforms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172200" y="4754880"/>
            <a:ext cx="5257800" cy="1051560"/>
          </a:xfrm>
          <a:prstGeom prst="roundRect">
            <a:avLst>
              <a:gd name="adj" fmla="val 5217"/>
            </a:avLst>
          </a:prstGeom>
          <a:solidFill>
            <a:srgbClr val="602347">
              <a:alpha val="8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6373368" y="4846320"/>
            <a:ext cx="365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296B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766560" y="4754880"/>
            <a:ext cx="44348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honest — every mock is labeled, every target metric is marked as a target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0080" y="64008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A9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millenniumdigital.com  ·  Prototype under active development  ·  Final partner evaluation, August 2026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2026-08-09T15:09:16Z</dcterms:created>
  <dcterms:modified xsi:type="dcterms:W3CDTF">2026-08-09T15:09:16Z</dcterms:modified>
</cp:coreProperties>
</file>